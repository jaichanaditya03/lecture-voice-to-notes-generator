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5"/>
  </p:notesMasterIdLst>
  <p:sldIdLst>
    <p:sldId id="256" r:id="rId5"/>
    <p:sldId id="2146847054" r:id="rId6"/>
    <p:sldId id="262" r:id="rId7"/>
    <p:sldId id="263" r:id="rId8"/>
    <p:sldId id="265" r:id="rId9"/>
    <p:sldId id="2146847059" r:id="rId10"/>
    <p:sldId id="266" r:id="rId11"/>
    <p:sldId id="2146847060" r:id="rId12"/>
    <p:sldId id="267" r:id="rId13"/>
    <p:sldId id="2146847061" r:id="rId14"/>
    <p:sldId id="2146847062" r:id="rId15"/>
    <p:sldId id="2146847063" r:id="rId16"/>
    <p:sldId id="2146847064" r:id="rId17"/>
    <p:sldId id="2146847065" r:id="rId18"/>
    <p:sldId id="268" r:id="rId19"/>
    <p:sldId id="2146847066" r:id="rId20"/>
    <p:sldId id="2146847055" r:id="rId21"/>
    <p:sldId id="269" r:id="rId22"/>
    <p:sldId id="2146847058" r:id="rId23"/>
    <p:sldId id="25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466EFC-1F62-CA2C-07B1-96111B302B1B}" v="154" dt="2023-11-22T13:37:01.483"/>
    <p1510:client id="{47C7BCB7-7546-3717-E035-B2126C89CD1A}" v="2" dt="2023-11-22T12:55:27.3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8" d="100"/>
          <a:sy n="98" d="100"/>
        </p:scale>
        <p:origin x="82" y="18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27-01-2026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7E254F1-4415-47BF-9E91-C5D4B9A33350}" type="slidenum">
              <a:rPr lang="en-IN" smtClean="0"/>
              <a:t>3</a:t>
            </a:fld>
            <a:endParaRPr lang="en-IN"/>
          </a:p>
        </p:txBody>
      </p:sp>
    </p:spTree>
    <p:extLst>
      <p:ext uri="{BB962C8B-B14F-4D97-AF65-F5344CB8AC3E}">
        <p14:creationId xmlns:p14="http://schemas.microsoft.com/office/powerpoint/2010/main" val="13162855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7E254F1-4415-47BF-9E91-C5D4B9A33350}" type="slidenum">
              <a:rPr lang="en-IN" smtClean="0"/>
              <a:t>5</a:t>
            </a:fld>
            <a:endParaRPr lang="en-IN"/>
          </a:p>
        </p:txBody>
      </p:sp>
    </p:spTree>
    <p:extLst>
      <p:ext uri="{BB962C8B-B14F-4D97-AF65-F5344CB8AC3E}">
        <p14:creationId xmlns:p14="http://schemas.microsoft.com/office/powerpoint/2010/main" val="7339459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21C6C-7151-49BC-EC88-813E6F37CB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D8A3F0-E969-C433-8742-97B7DEAA2C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3889C9-339A-A0E8-1D07-67248303349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30A9FA3-0D26-2EE6-4D42-A03EF2839550}"/>
              </a:ext>
            </a:extLst>
          </p:cNvPr>
          <p:cNvSpPr>
            <a:spLocks noGrp="1"/>
          </p:cNvSpPr>
          <p:nvPr>
            <p:ph type="sldNum" sz="quarter" idx="5"/>
          </p:nvPr>
        </p:nvSpPr>
        <p:spPr/>
        <p:txBody>
          <a:bodyPr/>
          <a:lstStyle/>
          <a:p>
            <a:fld id="{17E254F1-4415-47BF-9E91-C5D4B9A33350}" type="slidenum">
              <a:rPr lang="en-IN" smtClean="0"/>
              <a:t>6</a:t>
            </a:fld>
            <a:endParaRPr lang="en-IN"/>
          </a:p>
        </p:txBody>
      </p:sp>
    </p:spTree>
    <p:extLst>
      <p:ext uri="{BB962C8B-B14F-4D97-AF65-F5344CB8AC3E}">
        <p14:creationId xmlns:p14="http://schemas.microsoft.com/office/powerpoint/2010/main" val="24893705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7E254F1-4415-47BF-9E91-C5D4B9A33350}" type="slidenum">
              <a:rPr lang="en-IN" smtClean="0"/>
              <a:t>7</a:t>
            </a:fld>
            <a:endParaRPr lang="en-IN"/>
          </a:p>
        </p:txBody>
      </p:sp>
    </p:spTree>
    <p:extLst>
      <p:ext uri="{BB962C8B-B14F-4D97-AF65-F5344CB8AC3E}">
        <p14:creationId xmlns:p14="http://schemas.microsoft.com/office/powerpoint/2010/main" val="34361300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7E254F1-4415-47BF-9E91-C5D4B9A33350}" type="slidenum">
              <a:rPr lang="en-IN" smtClean="0"/>
              <a:t>9</a:t>
            </a:fld>
            <a:endParaRPr lang="en-IN"/>
          </a:p>
        </p:txBody>
      </p:sp>
    </p:spTree>
    <p:extLst>
      <p:ext uri="{BB962C8B-B14F-4D97-AF65-F5344CB8AC3E}">
        <p14:creationId xmlns:p14="http://schemas.microsoft.com/office/powerpoint/2010/main" val="33132749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7E254F1-4415-47BF-9E91-C5D4B9A33350}" type="slidenum">
              <a:rPr lang="en-IN" smtClean="0"/>
              <a:t>10</a:t>
            </a:fld>
            <a:endParaRPr lang="en-IN"/>
          </a:p>
        </p:txBody>
      </p:sp>
    </p:spTree>
    <p:extLst>
      <p:ext uri="{BB962C8B-B14F-4D97-AF65-F5344CB8AC3E}">
        <p14:creationId xmlns:p14="http://schemas.microsoft.com/office/powerpoint/2010/main" val="35264474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7E254F1-4415-47BF-9E91-C5D4B9A33350}" type="slidenum">
              <a:rPr lang="en-IN" smtClean="0"/>
              <a:t>11</a:t>
            </a:fld>
            <a:endParaRPr lang="en-IN"/>
          </a:p>
        </p:txBody>
      </p:sp>
    </p:spTree>
    <p:extLst>
      <p:ext uri="{BB962C8B-B14F-4D97-AF65-F5344CB8AC3E}">
        <p14:creationId xmlns:p14="http://schemas.microsoft.com/office/powerpoint/2010/main" val="20511723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7E254F1-4415-47BF-9E91-C5D4B9A33350}" type="slidenum">
              <a:rPr lang="en-IN" smtClean="0"/>
              <a:t>13</a:t>
            </a:fld>
            <a:endParaRPr lang="en-IN"/>
          </a:p>
        </p:txBody>
      </p:sp>
    </p:spTree>
    <p:extLst>
      <p:ext uri="{BB962C8B-B14F-4D97-AF65-F5344CB8AC3E}">
        <p14:creationId xmlns:p14="http://schemas.microsoft.com/office/powerpoint/2010/main" val="7860640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7E254F1-4415-47BF-9E91-C5D4B9A33350}" type="slidenum">
              <a:rPr lang="en-IN" smtClean="0"/>
              <a:t>14</a:t>
            </a:fld>
            <a:endParaRPr lang="en-IN"/>
          </a:p>
        </p:txBody>
      </p:sp>
    </p:spTree>
    <p:extLst>
      <p:ext uri="{BB962C8B-B14F-4D97-AF65-F5344CB8AC3E}">
        <p14:creationId xmlns:p14="http://schemas.microsoft.com/office/powerpoint/2010/main" val="13333419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7E254F1-4415-47BF-9E91-C5D4B9A33350}" type="slidenum">
              <a:rPr lang="en-IN" smtClean="0"/>
              <a:t>15</a:t>
            </a:fld>
            <a:endParaRPr lang="en-IN"/>
          </a:p>
        </p:txBody>
      </p:sp>
    </p:spTree>
    <p:extLst>
      <p:ext uri="{BB962C8B-B14F-4D97-AF65-F5344CB8AC3E}">
        <p14:creationId xmlns:p14="http://schemas.microsoft.com/office/powerpoint/2010/main" val="13715872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7E254F1-4415-47BF-9E91-C5D4B9A33350}" type="slidenum">
              <a:rPr lang="en-IN" smtClean="0"/>
              <a:t>16</a:t>
            </a:fld>
            <a:endParaRPr lang="en-IN"/>
          </a:p>
        </p:txBody>
      </p:sp>
    </p:spTree>
    <p:extLst>
      <p:ext uri="{BB962C8B-B14F-4D97-AF65-F5344CB8AC3E}">
        <p14:creationId xmlns:p14="http://schemas.microsoft.com/office/powerpoint/2010/main" val="1634337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1/27/2026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1/27/2026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1/27/2026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1/27/2026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1/27/2026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1/27/2026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1/27/2026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1/27/2026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1/27/2026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1/27/2026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1/27/2026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1/27/2026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hyperlink" Target="https://render.com/docs/deploy-fastapi" TargetMode="External"/><Relationship Id="rId3" Type="http://schemas.openxmlformats.org/officeDocument/2006/relationships/hyperlink" Target="https://console.groq.com/docs/" TargetMode="External"/><Relationship Id="rId7" Type="http://schemas.openxmlformats.org/officeDocument/2006/relationships/hyperlink" Target="https://vercel.com/" TargetMode="External"/><Relationship Id="rId2" Type="http://schemas.openxmlformats.org/officeDocument/2006/relationships/hyperlink" Target="https://groq.com/" TargetMode="External"/><Relationship Id="rId1" Type="http://schemas.openxmlformats.org/officeDocument/2006/relationships/slideLayout" Target="../slideLayouts/slideLayout2.xml"/><Relationship Id="rId6" Type="http://schemas.openxmlformats.org/officeDocument/2006/relationships/hyperlink" Target="https://render.com/" TargetMode="External"/><Relationship Id="rId5" Type="http://schemas.openxmlformats.org/officeDocument/2006/relationships/hyperlink" Target="https://react.dev/" TargetMode="External"/><Relationship Id="rId4" Type="http://schemas.openxmlformats.org/officeDocument/2006/relationships/hyperlink" Target="https://fastapi.tiangolo.com/" TargetMode="External"/><Relationship Id="rId9" Type="http://schemas.openxmlformats.org/officeDocument/2006/relationships/hyperlink" Target="https://vercel.com/docs/frameworks/vite"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lecture-voice-to-notes-generator-git-main-jaichans-projects.vercel.app/" TargetMode="External"/><Relationship Id="rId2" Type="http://schemas.openxmlformats.org/officeDocument/2006/relationships/hyperlink" Target="https://github.com/jaichanaditya03"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lstStyle/>
          <a:p>
            <a:pPr algn="ctr"/>
            <a:r>
              <a:rPr lang="en-IN" dirty="0"/>
              <a:t>Lecture Voice-to-Notes Generator</a:t>
            </a:r>
            <a:endParaRPr lang="en-US" b="1" dirty="0">
              <a:solidFill>
                <a:schemeClr val="accent1"/>
              </a:solidFill>
              <a:latin typeface="Arial" panose="020B0604020202020204" pitchFamily="34" charset="0"/>
              <a:cs typeface="Arial" panose="020B0604020202020204" pitchFamily="34" charset="0"/>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2170566" y="3550588"/>
            <a:ext cx="7980183" cy="1631216"/>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pPr marL="457200" indent="-457200">
              <a:buAutoNum type="arabicPeriod"/>
            </a:pPr>
            <a:r>
              <a:rPr lang="en-US" sz="2000" b="1" dirty="0">
                <a:solidFill>
                  <a:schemeClr val="accent1">
                    <a:lumMod val="75000"/>
                  </a:schemeClr>
                </a:solidFill>
                <a:latin typeface="Arial"/>
                <a:cs typeface="Arial"/>
              </a:rPr>
              <a:t>Student Name             -           ANNAM JAICHAN</a:t>
            </a:r>
          </a:p>
          <a:p>
            <a:pPr marL="457200" indent="-457200">
              <a:buAutoNum type="arabicPeriod"/>
            </a:pPr>
            <a:r>
              <a:rPr lang="en-US" sz="2000" b="1" dirty="0">
                <a:solidFill>
                  <a:schemeClr val="accent1">
                    <a:lumMod val="75000"/>
                  </a:schemeClr>
                </a:solidFill>
                <a:latin typeface="Arial"/>
                <a:cs typeface="Arial"/>
              </a:rPr>
              <a:t>College Name             -           MARWADI UNIVERSITY</a:t>
            </a:r>
          </a:p>
          <a:p>
            <a:pPr marL="457200" indent="-457200">
              <a:buAutoNum type="arabicPeriod"/>
            </a:pPr>
            <a:r>
              <a:rPr lang="en-US" sz="2000" b="1" dirty="0">
                <a:solidFill>
                  <a:schemeClr val="accent1">
                    <a:lumMod val="75000"/>
                  </a:schemeClr>
                </a:solidFill>
                <a:latin typeface="Arial"/>
                <a:cs typeface="Arial"/>
              </a:rPr>
              <a:t>Department                 -           MCA</a:t>
            </a:r>
          </a:p>
          <a:p>
            <a:pPr marL="457200" indent="-457200">
              <a:buAutoNum type="arabicPeriod"/>
            </a:pPr>
            <a:r>
              <a:rPr lang="en-IN" sz="2000" b="1" dirty="0">
                <a:solidFill>
                  <a:schemeClr val="accent1">
                    <a:lumMod val="75000"/>
                  </a:schemeClr>
                </a:solidFill>
                <a:latin typeface="Arial"/>
                <a:cs typeface="Arial"/>
              </a:rPr>
              <a:t>AICTE STUDENT ID    -          STU68048f8cb9e441745129356</a:t>
            </a:r>
            <a:endParaRPr lang="en-US" sz="2000" b="1" dirty="0">
              <a:solidFill>
                <a:schemeClr val="accent1">
                  <a:lumMod val="75000"/>
                </a:schemeClr>
              </a:solidFill>
              <a:latin typeface="Arial"/>
              <a:cs typeface="Arial"/>
            </a:endParaRP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r>
              <a:rPr lang="en-US" sz="2000" b="1" dirty="0">
                <a:latin typeface="Arial"/>
                <a:ea typeface="+mn-lt"/>
                <a:cs typeface="Arial"/>
              </a:rPr>
              <a:t>Problem Statement</a:t>
            </a:r>
            <a:endParaRPr lang="en-US" dirty="0">
              <a:latin typeface="Arial"/>
              <a:cs typeface="Arial"/>
            </a:endParaRPr>
          </a:p>
          <a:p>
            <a:r>
              <a:rPr lang="en-US" sz="2000" b="1" dirty="0">
                <a:latin typeface="Arial"/>
                <a:ea typeface="+mn-lt"/>
                <a:cs typeface="Arial"/>
              </a:rPr>
              <a:t>Proposed Solution</a:t>
            </a:r>
            <a:endParaRPr lang="en-US" dirty="0">
              <a:latin typeface="Arial"/>
              <a:cs typeface="Arial"/>
            </a:endParaRPr>
          </a:p>
          <a:p>
            <a:r>
              <a:rPr lang="en-US" sz="2000" b="1" dirty="0">
                <a:latin typeface="Arial"/>
                <a:ea typeface="+mn-lt"/>
                <a:cs typeface="Calibri"/>
              </a:rPr>
              <a:t>System </a:t>
            </a:r>
            <a:r>
              <a:rPr lang="en-US" sz="2000" b="1" dirty="0">
                <a:latin typeface="Arial"/>
                <a:ea typeface="+mn-lt"/>
                <a:cs typeface="+mn-lt"/>
              </a:rPr>
              <a:t> Approach</a:t>
            </a:r>
            <a:r>
              <a:rPr lang="en-US" sz="2000" dirty="0">
                <a:latin typeface="Arial"/>
                <a:ea typeface="+mn-lt"/>
                <a:cs typeface="+mn-lt"/>
              </a:rPr>
              <a:t> </a:t>
            </a:r>
            <a:endParaRPr lang="en-US" dirty="0">
              <a:latin typeface="Arial"/>
              <a:ea typeface="+mn-lt"/>
              <a:cs typeface="+mn-lt"/>
            </a:endParaRPr>
          </a:p>
          <a:p>
            <a:r>
              <a:rPr lang="en-US" sz="2000" b="1" dirty="0">
                <a:latin typeface="Arial"/>
                <a:ea typeface="+mn-lt"/>
                <a:cs typeface="+mn-lt"/>
              </a:rPr>
              <a:t>Algorithm &amp; Deployment  </a:t>
            </a:r>
            <a:endParaRPr lang="en-US" dirty="0">
              <a:latin typeface="Arial"/>
              <a:cs typeface="Calibri"/>
            </a:endParaRPr>
          </a:p>
          <a:p>
            <a:r>
              <a:rPr lang="en-US" sz="2000" b="1" dirty="0">
                <a:latin typeface="Arial"/>
                <a:ea typeface="+mn-lt"/>
                <a:cs typeface="Arial"/>
              </a:rPr>
              <a:t>Result</a:t>
            </a:r>
          </a:p>
          <a:p>
            <a:r>
              <a:rPr lang="en-US" sz="2000" b="1" dirty="0">
                <a:latin typeface="Arial"/>
                <a:ea typeface="+mn-lt"/>
                <a:cs typeface="Arial"/>
              </a:rPr>
              <a:t>Conclusion</a:t>
            </a:r>
            <a:endParaRPr lang="en-US" dirty="0">
              <a:latin typeface="Arial"/>
              <a:cs typeface="Arial"/>
            </a:endParaRPr>
          </a:p>
          <a:p>
            <a:r>
              <a:rPr lang="en-US" sz="2000" b="1" dirty="0">
                <a:latin typeface="Arial"/>
                <a:ea typeface="+mn-lt"/>
                <a:cs typeface="Arial"/>
              </a:rPr>
              <a:t>Future Scope</a:t>
            </a:r>
          </a:p>
          <a:p>
            <a:r>
              <a:rPr lang="en-US" sz="2000" b="1" dirty="0">
                <a:latin typeface="Arial"/>
                <a:ea typeface="+mn-lt"/>
                <a:cs typeface="Arial"/>
              </a:rPr>
              <a:t>References</a:t>
            </a:r>
            <a:endParaRPr lang="en-US" dirty="0">
              <a:latin typeface="Arial"/>
              <a:cs typeface="Arial"/>
            </a:endParaRPr>
          </a:p>
          <a:p>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Problem Statement</a:t>
            </a:r>
            <a:endParaRPr lang="en-US" sz="4400" dirty="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36773" y="1232452"/>
            <a:ext cx="11029615" cy="5285603"/>
          </a:xfrm>
        </p:spPr>
        <p:txBody>
          <a:bodyPr>
            <a:noAutofit/>
          </a:bodyPr>
          <a:lstStyle/>
          <a:p>
            <a:pPr marL="0" indent="0" algn="just">
              <a:buNone/>
            </a:pPr>
            <a:r>
              <a:rPr lang="en-US" sz="1800" dirty="0">
                <a:latin typeface="Calibri" panose="020F0502020204030204" pitchFamily="34" charset="0"/>
                <a:ea typeface="Calibri" panose="020F0502020204030204" pitchFamily="34" charset="0"/>
                <a:cs typeface="Calibri" panose="020F0502020204030204" pitchFamily="34" charset="0"/>
              </a:rPr>
              <a:t>In modern education, students and professionals attend numerous lectures, webinars, and online courses, often ranging from </a:t>
            </a:r>
            <a:r>
              <a:rPr lang="en-US" sz="1800" b="1" dirty="0">
                <a:latin typeface="Calibri" panose="020F0502020204030204" pitchFamily="34" charset="0"/>
                <a:ea typeface="Calibri" panose="020F0502020204030204" pitchFamily="34" charset="0"/>
                <a:cs typeface="Calibri" panose="020F0502020204030204" pitchFamily="34" charset="0"/>
              </a:rPr>
              <a:t>1-3 hours</a:t>
            </a:r>
            <a:r>
              <a:rPr lang="en-US" sz="1800" dirty="0">
                <a:latin typeface="Calibri" panose="020F0502020204030204" pitchFamily="34" charset="0"/>
                <a:ea typeface="Calibri" panose="020F0502020204030204" pitchFamily="34" charset="0"/>
                <a:cs typeface="Calibri" panose="020F0502020204030204" pitchFamily="34" charset="0"/>
              </a:rPr>
              <a:t> each, creating a significant challenge in managing and retaining vast amounts of information. Traditional manual note-taking during lectures is </a:t>
            </a:r>
            <a:r>
              <a:rPr lang="en-US" sz="1800" b="1" dirty="0">
                <a:latin typeface="Calibri" panose="020F0502020204030204" pitchFamily="34" charset="0"/>
                <a:ea typeface="Calibri" panose="020F0502020204030204" pitchFamily="34" charset="0"/>
                <a:cs typeface="Calibri" panose="020F0502020204030204" pitchFamily="34" charset="0"/>
              </a:rPr>
              <a:t>error-prone</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b="1" dirty="0">
                <a:latin typeface="Calibri" panose="020F0502020204030204" pitchFamily="34" charset="0"/>
                <a:ea typeface="Calibri" panose="020F0502020204030204" pitchFamily="34" charset="0"/>
                <a:cs typeface="Calibri" panose="020F0502020204030204" pitchFamily="34" charset="0"/>
              </a:rPr>
              <a:t>incomplete</a:t>
            </a:r>
            <a:r>
              <a:rPr lang="en-US" sz="1800" dirty="0">
                <a:latin typeface="Calibri" panose="020F0502020204030204" pitchFamily="34" charset="0"/>
                <a:ea typeface="Calibri" panose="020F0502020204030204" pitchFamily="34" charset="0"/>
                <a:cs typeface="Calibri" panose="020F0502020204030204" pitchFamily="34" charset="0"/>
              </a:rPr>
              <a:t>, and </a:t>
            </a:r>
            <a:r>
              <a:rPr lang="en-US" sz="1800" b="1" dirty="0">
                <a:latin typeface="Calibri" panose="020F0502020204030204" pitchFamily="34" charset="0"/>
                <a:ea typeface="Calibri" panose="020F0502020204030204" pitchFamily="34" charset="0"/>
                <a:cs typeface="Calibri" panose="020F0502020204030204" pitchFamily="34" charset="0"/>
              </a:rPr>
              <a:t>causes students </a:t>
            </a:r>
            <a:r>
              <a:rPr lang="en-US" sz="1800" dirty="0">
                <a:latin typeface="Calibri" panose="020F0502020204030204" pitchFamily="34" charset="0"/>
                <a:ea typeface="Calibri" panose="020F0502020204030204" pitchFamily="34" charset="0"/>
                <a:cs typeface="Calibri" panose="020F0502020204030204" pitchFamily="34" charset="0"/>
              </a:rPr>
              <a:t>to miss critical points while trying to document content, leading to inconsistent and poorly structured notes across different subjects. The process of reviewing recorded lectures is extremely time-consuming, as students must re-watch entire sessions to extract key information, with no efficient way to quickly search or reference specific topics within audio recordings. Students with hearing impairments or non-native speakers face additional accessibility barriers when dealing with audio-only content, limiting their ability to fully engage with educational materials. Creating effective study materials such as </a:t>
            </a:r>
            <a:r>
              <a:rPr lang="en-US" sz="1800" b="1" dirty="0">
                <a:latin typeface="Calibri" panose="020F0502020204030204" pitchFamily="34" charset="0"/>
                <a:ea typeface="Calibri" panose="020F0502020204030204" pitchFamily="34" charset="0"/>
                <a:cs typeface="Calibri" panose="020F0502020204030204" pitchFamily="34" charset="0"/>
              </a:rPr>
              <a:t>summaries</a:t>
            </a:r>
            <a:r>
              <a:rPr lang="en-US" sz="1800" dirty="0">
                <a:latin typeface="Calibri" panose="020F0502020204030204" pitchFamily="34" charset="0"/>
                <a:ea typeface="Calibri" panose="020F0502020204030204" pitchFamily="34" charset="0"/>
                <a:cs typeface="Calibri" panose="020F0502020204030204" pitchFamily="34" charset="0"/>
              </a:rPr>
              <a:t>, </a:t>
            </a:r>
            <a:r>
              <a:rPr lang="en-US" sz="1800" b="1" dirty="0">
                <a:latin typeface="Calibri" panose="020F0502020204030204" pitchFamily="34" charset="0"/>
                <a:ea typeface="Calibri" panose="020F0502020204030204" pitchFamily="34" charset="0"/>
                <a:cs typeface="Calibri" panose="020F0502020204030204" pitchFamily="34" charset="0"/>
              </a:rPr>
              <a:t>flashcards</a:t>
            </a:r>
            <a:r>
              <a:rPr lang="en-US" sz="1800" dirty="0">
                <a:latin typeface="Calibri" panose="020F0502020204030204" pitchFamily="34" charset="0"/>
                <a:ea typeface="Calibri" panose="020F0502020204030204" pitchFamily="34" charset="0"/>
                <a:cs typeface="Calibri" panose="020F0502020204030204" pitchFamily="34" charset="0"/>
              </a:rPr>
              <a:t>, and </a:t>
            </a:r>
            <a:r>
              <a:rPr lang="en-US" sz="1800" b="1" dirty="0">
                <a:latin typeface="Calibri" panose="020F0502020204030204" pitchFamily="34" charset="0"/>
                <a:ea typeface="Calibri" panose="020F0502020204030204" pitchFamily="34" charset="0"/>
                <a:cs typeface="Calibri" panose="020F0502020204030204" pitchFamily="34" charset="0"/>
              </a:rPr>
              <a:t>practice questions </a:t>
            </a:r>
            <a:r>
              <a:rPr lang="en-US" sz="1800" dirty="0">
                <a:latin typeface="Calibri" panose="020F0502020204030204" pitchFamily="34" charset="0"/>
                <a:ea typeface="Calibri" panose="020F0502020204030204" pitchFamily="34" charset="0"/>
                <a:cs typeface="Calibri" panose="020F0502020204030204" pitchFamily="34" charset="0"/>
              </a:rPr>
              <a:t>is a manual and time-intensive process that requires </a:t>
            </a:r>
            <a:r>
              <a:rPr lang="en-US" sz="1800" b="1" dirty="0">
                <a:latin typeface="Calibri" panose="020F0502020204030204" pitchFamily="34" charset="0"/>
                <a:ea typeface="Calibri" panose="020F0502020204030204" pitchFamily="34" charset="0"/>
                <a:cs typeface="Calibri" panose="020F0502020204030204" pitchFamily="34" charset="0"/>
              </a:rPr>
              <a:t>hours of effort </a:t>
            </a:r>
            <a:r>
              <a:rPr lang="en-US" sz="1800" dirty="0">
                <a:latin typeface="Calibri" panose="020F0502020204030204" pitchFamily="34" charset="0"/>
                <a:ea typeface="Calibri" panose="020F0502020204030204" pitchFamily="34" charset="0"/>
                <a:cs typeface="Calibri" panose="020F0502020204030204" pitchFamily="34" charset="0"/>
              </a:rPr>
              <a:t>to condense lecture content into reviewable formats, leaving students with inadequate preparation for exams. Educational content exists across multiple platforms including </a:t>
            </a:r>
            <a:r>
              <a:rPr lang="en-US" sz="1800" b="1" dirty="0">
                <a:latin typeface="Calibri" panose="020F0502020204030204" pitchFamily="34" charset="0"/>
                <a:ea typeface="Calibri" panose="020F0502020204030204" pitchFamily="34" charset="0"/>
                <a:cs typeface="Calibri" panose="020F0502020204030204" pitchFamily="34" charset="0"/>
              </a:rPr>
              <a:t>YouTube, recorded files</a:t>
            </a:r>
            <a:r>
              <a:rPr lang="en-US" sz="1800" dirty="0">
                <a:latin typeface="Calibri" panose="020F0502020204030204" pitchFamily="34" charset="0"/>
                <a:ea typeface="Calibri" panose="020F0502020204030204" pitchFamily="34" charset="0"/>
                <a:cs typeface="Calibri" panose="020F0502020204030204" pitchFamily="34" charset="0"/>
              </a:rPr>
              <a:t>, and </a:t>
            </a:r>
            <a:r>
              <a:rPr lang="en-US" sz="1800" b="1" dirty="0">
                <a:latin typeface="Calibri" panose="020F0502020204030204" pitchFamily="34" charset="0"/>
                <a:ea typeface="Calibri" panose="020F0502020204030204" pitchFamily="34" charset="0"/>
                <a:cs typeface="Calibri" panose="020F0502020204030204" pitchFamily="34" charset="0"/>
              </a:rPr>
              <a:t>live sessions</a:t>
            </a:r>
            <a:r>
              <a:rPr lang="en-US" sz="1800" dirty="0">
                <a:latin typeface="Calibri" panose="020F0502020204030204" pitchFamily="34" charset="0"/>
                <a:ea typeface="Calibri" panose="020F0502020204030204" pitchFamily="34" charset="0"/>
                <a:cs typeface="Calibri" panose="020F0502020204030204" pitchFamily="34" charset="0"/>
              </a:rPr>
              <a:t>, yet there is no unified solution to process content from these diverse sources, forcing students to manually download and convert files while dealing with platform-specific restrictions. Existing solutions such as manual transcription services are prohibitively expensive ($1-3 per minute) with slow turnaround times, while generic speech-to-text tools produce only unstructured raw text without educational context, summarization, or study aids. Current tools like </a:t>
            </a:r>
            <a:r>
              <a:rPr lang="en-US" sz="1800" b="1" dirty="0">
                <a:latin typeface="Calibri" panose="020F0502020204030204" pitchFamily="34" charset="0"/>
                <a:ea typeface="Calibri" panose="020F0502020204030204" pitchFamily="34" charset="0"/>
                <a:cs typeface="Calibri" panose="020F0502020204030204" pitchFamily="34" charset="0"/>
              </a:rPr>
              <a:t>YouTube auto-captions </a:t>
            </a:r>
            <a:r>
              <a:rPr lang="en-US" sz="1800" dirty="0">
                <a:latin typeface="Calibri" panose="020F0502020204030204" pitchFamily="34" charset="0"/>
                <a:ea typeface="Calibri" panose="020F0502020204030204" pitchFamily="34" charset="0"/>
                <a:cs typeface="Calibri" panose="020F0502020204030204" pitchFamily="34" charset="0"/>
              </a:rPr>
              <a:t>are limited to a single platform, often </a:t>
            </a:r>
            <a:r>
              <a:rPr lang="en-US" sz="1800" b="1" dirty="0">
                <a:latin typeface="Calibri" panose="020F0502020204030204" pitchFamily="34" charset="0"/>
                <a:ea typeface="Calibri" panose="020F0502020204030204" pitchFamily="34" charset="0"/>
                <a:cs typeface="Calibri" panose="020F0502020204030204" pitchFamily="34" charset="0"/>
              </a:rPr>
              <a:t>inaccurate</a:t>
            </a:r>
            <a:r>
              <a:rPr lang="en-US" sz="1800" dirty="0">
                <a:latin typeface="Calibri" panose="020F0502020204030204" pitchFamily="34" charset="0"/>
                <a:ea typeface="Calibri" panose="020F0502020204030204" pitchFamily="34" charset="0"/>
                <a:cs typeface="Calibri" panose="020F0502020204030204" pitchFamily="34" charset="0"/>
              </a:rPr>
              <a:t>, and fail to generate the comprehensive study materials that students need for effective learning and retention, leaving a critical gap in the educational technology landscape.</a:t>
            </a:r>
            <a:endParaRPr lang="en-IN"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marL="305435" indent="-305435"/>
            <a:endParaRPr lang="en-IN" sz="1600" dirty="0"/>
          </a:p>
          <a:p>
            <a:pPr marL="0" indent="0">
              <a:buNone/>
            </a:pPr>
            <a:endParaRPr lang="en-IN" dirty="0"/>
          </a:p>
        </p:txBody>
      </p:sp>
      <p:sp>
        <p:nvSpPr>
          <p:cNvPr id="8" name="TextBox 7">
            <a:extLst>
              <a:ext uri="{FF2B5EF4-FFF2-40B4-BE49-F238E27FC236}">
                <a16:creationId xmlns:a16="http://schemas.microsoft.com/office/drawing/2014/main" id="{1D1777C7-817B-618D-07AC-A557ACFC12CB}"/>
              </a:ext>
            </a:extLst>
          </p:cNvPr>
          <p:cNvSpPr txBox="1"/>
          <p:nvPr/>
        </p:nvSpPr>
        <p:spPr>
          <a:xfrm>
            <a:off x="581192" y="1232452"/>
            <a:ext cx="11029616" cy="4801314"/>
          </a:xfrm>
          <a:prstGeom prst="rect">
            <a:avLst/>
          </a:prstGeom>
          <a:noFill/>
        </p:spPr>
        <p:txBody>
          <a:bodyPr wrap="square">
            <a:spAutoFit/>
          </a:bodyPr>
          <a:lstStyle/>
          <a:p>
            <a:pPr algn="just"/>
            <a:r>
              <a:rPr lang="en-US" dirty="0">
                <a:latin typeface="Calibri" panose="020F0502020204030204" pitchFamily="34" charset="0"/>
                <a:ea typeface="Calibri" panose="020F0502020204030204" pitchFamily="34" charset="0"/>
                <a:cs typeface="Calibri" panose="020F0502020204030204" pitchFamily="34" charset="0"/>
              </a:rPr>
              <a:t>The </a:t>
            </a:r>
            <a:r>
              <a:rPr lang="en-US" b="1" dirty="0">
                <a:latin typeface="Calibri" panose="020F0502020204030204" pitchFamily="34" charset="0"/>
                <a:ea typeface="Calibri" panose="020F0502020204030204" pitchFamily="34" charset="0"/>
                <a:cs typeface="Calibri" panose="020F0502020204030204" pitchFamily="34" charset="0"/>
              </a:rPr>
              <a:t>Lecture Voice-to-Notes Generator</a:t>
            </a:r>
            <a:r>
              <a:rPr lang="en-US" dirty="0">
                <a:latin typeface="Calibri" panose="020F0502020204030204" pitchFamily="34" charset="0"/>
                <a:ea typeface="Calibri" panose="020F0502020204030204" pitchFamily="34" charset="0"/>
                <a:cs typeface="Calibri" panose="020F0502020204030204" pitchFamily="34" charset="0"/>
              </a:rPr>
              <a:t> is an intelligent web-based application that leverages cutting-edge artificial intelligence to automatically transform lecture audio into comprehensive, structured study materials. The system provides three flexible input methods to accommodate diverse learning scenarios: direct file upload supporting multiple audio formats (MP3, WAV, M4A, </a:t>
            </a:r>
            <a:r>
              <a:rPr lang="en-US" dirty="0" err="1">
                <a:latin typeface="Calibri" panose="020F0502020204030204" pitchFamily="34" charset="0"/>
                <a:ea typeface="Calibri" panose="020F0502020204030204" pitchFamily="34" charset="0"/>
                <a:cs typeface="Calibri" panose="020F0502020204030204" pitchFamily="34" charset="0"/>
              </a:rPr>
              <a:t>WebM</a:t>
            </a:r>
            <a:r>
              <a:rPr lang="en-US" dirty="0">
                <a:latin typeface="Calibri" panose="020F0502020204030204" pitchFamily="34" charset="0"/>
                <a:ea typeface="Calibri" panose="020F0502020204030204" pitchFamily="34" charset="0"/>
                <a:cs typeface="Calibri" panose="020F0502020204030204" pitchFamily="34" charset="0"/>
              </a:rPr>
              <a:t>), live system audio recording for capturing real-time lectures, and intelligent link processing that extracts audio from YouTube and other media platforms. At its core, the application employs </a:t>
            </a:r>
            <a:r>
              <a:rPr lang="en-US" b="1" dirty="0" err="1">
                <a:latin typeface="Calibri" panose="020F0502020204030204" pitchFamily="34" charset="0"/>
                <a:ea typeface="Calibri" panose="020F0502020204030204" pitchFamily="34" charset="0"/>
                <a:cs typeface="Calibri" panose="020F0502020204030204" pitchFamily="34" charset="0"/>
              </a:rPr>
              <a:t>Groq's</a:t>
            </a:r>
            <a:r>
              <a:rPr lang="en-US" b="1" dirty="0">
                <a:latin typeface="Calibri" panose="020F0502020204030204" pitchFamily="34" charset="0"/>
                <a:ea typeface="Calibri" panose="020F0502020204030204" pitchFamily="34" charset="0"/>
                <a:cs typeface="Calibri" panose="020F0502020204030204" pitchFamily="34" charset="0"/>
              </a:rPr>
              <a:t> Whisper Large V3 model </a:t>
            </a:r>
            <a:r>
              <a:rPr lang="en-US" dirty="0">
                <a:latin typeface="Calibri" panose="020F0502020204030204" pitchFamily="34" charset="0"/>
                <a:ea typeface="Calibri" panose="020F0502020204030204" pitchFamily="34" charset="0"/>
                <a:cs typeface="Calibri" panose="020F0502020204030204" pitchFamily="34" charset="0"/>
              </a:rPr>
              <a:t>for </a:t>
            </a:r>
            <a:r>
              <a:rPr lang="en-US" b="1" dirty="0">
                <a:latin typeface="Calibri" panose="020F0502020204030204" pitchFamily="34" charset="0"/>
                <a:ea typeface="Calibri" panose="020F0502020204030204" pitchFamily="34" charset="0"/>
                <a:cs typeface="Calibri" panose="020F0502020204030204" pitchFamily="34" charset="0"/>
              </a:rPr>
              <a:t>ultra-fast</a:t>
            </a:r>
            <a:r>
              <a:rPr lang="en-US" dirty="0">
                <a:latin typeface="Calibri" panose="020F0502020204030204" pitchFamily="34" charset="0"/>
                <a:ea typeface="Calibri" panose="020F0502020204030204" pitchFamily="34" charset="0"/>
                <a:cs typeface="Calibri" panose="020F0502020204030204" pitchFamily="34" charset="0"/>
              </a:rPr>
              <a:t>, highly accurate speech-to-text transcription, capable of processing even lengthy lectures of 6+ hours through intelligent audio chunking and parallel processing techniques.</a:t>
            </a:r>
          </a:p>
          <a:p>
            <a:pPr algn="just"/>
            <a:r>
              <a:rPr lang="en-US" dirty="0">
                <a:latin typeface="Calibri" panose="020F0502020204030204" pitchFamily="34" charset="0"/>
                <a:ea typeface="Calibri" panose="020F0502020204030204" pitchFamily="34" charset="0"/>
                <a:cs typeface="Calibri" panose="020F0502020204030204" pitchFamily="34" charset="0"/>
              </a:rPr>
              <a:t>Beyond simple transcription, the system utilizes the advanced </a:t>
            </a:r>
            <a:r>
              <a:rPr lang="en-US" b="1" dirty="0">
                <a:latin typeface="Calibri" panose="020F0502020204030204" pitchFamily="34" charset="0"/>
                <a:ea typeface="Calibri" panose="020F0502020204030204" pitchFamily="34" charset="0"/>
                <a:cs typeface="Calibri" panose="020F0502020204030204" pitchFamily="34" charset="0"/>
              </a:rPr>
              <a:t>Llama 3.3 70B language model </a:t>
            </a:r>
            <a:r>
              <a:rPr lang="en-US" dirty="0">
                <a:latin typeface="Calibri" panose="020F0502020204030204" pitchFamily="34" charset="0"/>
                <a:ea typeface="Calibri" panose="020F0502020204030204" pitchFamily="34" charset="0"/>
                <a:cs typeface="Calibri" panose="020F0502020204030204" pitchFamily="34" charset="0"/>
              </a:rPr>
              <a:t>to generate AI-powered educational content, including organized summaries with structured headings and bullet points, automatically generated multiple-choice quizzes for self-assessment, and custom flashcards designed for spaced repetition learning. The application features a modern, intuitive user interface built with </a:t>
            </a:r>
            <a:r>
              <a:rPr lang="en-US" b="1" dirty="0">
                <a:latin typeface="Calibri" panose="020F0502020204030204" pitchFamily="34" charset="0"/>
                <a:ea typeface="Calibri" panose="020F0502020204030204" pitchFamily="34" charset="0"/>
                <a:cs typeface="Calibri" panose="020F0502020204030204" pitchFamily="34" charset="0"/>
              </a:rPr>
              <a:t>React </a:t>
            </a:r>
            <a:r>
              <a:rPr lang="en-US" dirty="0">
                <a:latin typeface="Calibri" panose="020F0502020204030204" pitchFamily="34" charset="0"/>
                <a:ea typeface="Calibri" panose="020F0502020204030204" pitchFamily="34" charset="0"/>
                <a:cs typeface="Calibri" panose="020F0502020204030204" pitchFamily="34" charset="0"/>
              </a:rPr>
              <a:t>and </a:t>
            </a:r>
            <a:r>
              <a:rPr lang="en-US" b="1" dirty="0">
                <a:latin typeface="Calibri" panose="020F0502020204030204" pitchFamily="34" charset="0"/>
                <a:ea typeface="Calibri" panose="020F0502020204030204" pitchFamily="34" charset="0"/>
                <a:cs typeface="Calibri" panose="020F0502020204030204" pitchFamily="34" charset="0"/>
              </a:rPr>
              <a:t>Tailwind CSS</a:t>
            </a:r>
            <a:r>
              <a:rPr lang="en-US" dirty="0">
                <a:latin typeface="Calibri" panose="020F0502020204030204" pitchFamily="34" charset="0"/>
                <a:ea typeface="Calibri" panose="020F0502020204030204" pitchFamily="34" charset="0"/>
                <a:cs typeface="Calibri" panose="020F0502020204030204" pitchFamily="34" charset="0"/>
              </a:rPr>
              <a:t>, offering real-time progress tracking, editable transcripts for manual corrections, and seamless PDF export functionality that combines all study materials into a single, professionally formatted document. The solution implements a smart dual-strategy approach for YouTube content, first attempting to extract existing captions for instant results, then falling back to audio download and transcription when captions are unavailable, ensuring maximum compatibility and success rates.</a:t>
            </a:r>
          </a:p>
          <a:p>
            <a:endParaRPr lang="en-IN"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3" name="Rectangle 1">
            <a:extLst>
              <a:ext uri="{FF2B5EF4-FFF2-40B4-BE49-F238E27FC236}">
                <a16:creationId xmlns:a16="http://schemas.microsoft.com/office/drawing/2014/main" id="{0614F04E-6F49-1ECF-2A47-F63BBF04A3AC}"/>
              </a:ext>
            </a:extLst>
          </p:cNvPr>
          <p:cNvSpPr>
            <a:spLocks noGrp="1" noChangeArrowheads="1"/>
          </p:cNvSpPr>
          <p:nvPr>
            <p:ph idx="1"/>
          </p:nvPr>
        </p:nvSpPr>
        <p:spPr bwMode="auto">
          <a:xfrm>
            <a:off x="581192" y="1119506"/>
            <a:ext cx="10362452" cy="5738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b="1" dirty="0"/>
              <a:t>1. Architecture Pattern</a:t>
            </a:r>
          </a:p>
          <a:p>
            <a:r>
              <a:rPr lang="en-US" dirty="0"/>
              <a:t>The system follows a modern three-tier client-server architecture with clear separation of concerns.</a:t>
            </a:r>
          </a:p>
          <a:p>
            <a:r>
              <a:rPr lang="en-US" dirty="0"/>
              <a:t>Presentation layer consists of a React-based single-page application for user interaction.</a:t>
            </a:r>
          </a:p>
          <a:p>
            <a:r>
              <a:rPr lang="en-US" dirty="0"/>
              <a:t>Application layer uses </a:t>
            </a:r>
            <a:r>
              <a:rPr lang="en-US" dirty="0" err="1"/>
              <a:t>FastAPI</a:t>
            </a:r>
            <a:r>
              <a:rPr lang="en-US" dirty="0"/>
              <a:t> with modular service architecture for business logic processing.</a:t>
            </a:r>
          </a:p>
          <a:p>
            <a:r>
              <a:rPr lang="en-US" dirty="0"/>
              <a:t>Integration layer connects to AI model APIs and external services for content processing.</a:t>
            </a:r>
          </a:p>
          <a:p>
            <a:r>
              <a:rPr lang="en-IN" b="1" dirty="0"/>
              <a:t>2. Frontend Technologies</a:t>
            </a:r>
          </a:p>
          <a:p>
            <a:r>
              <a:rPr lang="en-IN" b="1" dirty="0"/>
              <a:t>React 18</a:t>
            </a:r>
            <a:r>
              <a:rPr lang="en-IN" dirty="0"/>
              <a:t> serves as the core framework for building component-based interactive user interfaces.</a:t>
            </a:r>
          </a:p>
          <a:p>
            <a:r>
              <a:rPr lang="en-IN" b="1" dirty="0"/>
              <a:t>Vite 5</a:t>
            </a:r>
            <a:r>
              <a:rPr lang="en-IN" dirty="0"/>
              <a:t> provides fast development experience with hot module replacement and optimized production builds.</a:t>
            </a:r>
          </a:p>
          <a:p>
            <a:r>
              <a:rPr lang="en-IN" b="1" dirty="0"/>
              <a:t>Tailwind CSS 3</a:t>
            </a:r>
            <a:r>
              <a:rPr lang="en-IN" dirty="0"/>
              <a:t> enables rapid UI development with utility-first styling and responsive design.</a:t>
            </a:r>
          </a:p>
          <a:p>
            <a:r>
              <a:rPr lang="en-IN" b="1" dirty="0"/>
              <a:t>Axios</a:t>
            </a:r>
            <a:r>
              <a:rPr lang="en-IN" dirty="0"/>
              <a:t> handles all HTTP communication with the backend through promise-based API calls.</a:t>
            </a:r>
          </a:p>
          <a:p>
            <a:r>
              <a:rPr lang="en-IN" b="1" dirty="0" err="1"/>
              <a:t>Lucide</a:t>
            </a:r>
            <a:r>
              <a:rPr lang="en-IN" b="1" dirty="0"/>
              <a:t> React</a:t>
            </a:r>
            <a:r>
              <a:rPr lang="en-IN" dirty="0"/>
              <a:t> provides modern icon components for consistent visual elements.</a:t>
            </a:r>
          </a:p>
          <a:p>
            <a:r>
              <a:rPr lang="en-IN" b="1" dirty="0"/>
              <a:t>React Hot Toast</a:t>
            </a:r>
            <a:r>
              <a:rPr lang="en-IN" dirty="0"/>
              <a:t> delivers elegant toast notifications for user feedback.</a:t>
            </a:r>
          </a:p>
          <a:p>
            <a:r>
              <a:rPr lang="en-IN" b="1" dirty="0" err="1"/>
              <a:t>jsPDF</a:t>
            </a:r>
            <a:r>
              <a:rPr lang="en-IN" dirty="0"/>
              <a:t> enables client-side PDF generation for exporting study materials.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8F66E-477D-6D2D-533F-0911F1CA6467}"/>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2D734E20-8295-2366-6F6E-2B2D338FCB66}"/>
              </a:ext>
            </a:extLst>
          </p:cNvPr>
          <p:cNvSpPr>
            <a:spLocks noGrp="1" noChangeArrowheads="1"/>
          </p:cNvSpPr>
          <p:nvPr>
            <p:ph idx="1"/>
          </p:nvPr>
        </p:nvSpPr>
        <p:spPr bwMode="auto">
          <a:xfrm>
            <a:off x="440516" y="569908"/>
            <a:ext cx="9204379" cy="619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IN" b="1" dirty="0"/>
              <a:t>3. Backend Technologies</a:t>
            </a:r>
          </a:p>
          <a:p>
            <a:r>
              <a:rPr lang="en-IN" b="1" dirty="0"/>
              <a:t>Python 3.13+</a:t>
            </a:r>
            <a:r>
              <a:rPr lang="en-IN" dirty="0"/>
              <a:t> serves as the primary programming language with async/await support.</a:t>
            </a:r>
          </a:p>
          <a:p>
            <a:r>
              <a:rPr lang="en-IN" b="1" dirty="0" err="1"/>
              <a:t>FastAPI</a:t>
            </a:r>
            <a:r>
              <a:rPr lang="en-IN" b="1" dirty="0"/>
              <a:t> 0.128.0</a:t>
            </a:r>
            <a:r>
              <a:rPr lang="en-IN" dirty="0"/>
              <a:t> provides high-performance web framework with automatic API documentation.</a:t>
            </a:r>
          </a:p>
          <a:p>
            <a:r>
              <a:rPr lang="en-IN" b="1" dirty="0" err="1"/>
              <a:t>Uvicorn</a:t>
            </a:r>
            <a:r>
              <a:rPr lang="en-IN" b="1" dirty="0"/>
              <a:t> 0.40.0</a:t>
            </a:r>
            <a:r>
              <a:rPr lang="en-IN" dirty="0"/>
              <a:t> acts as the ASGI server for lightning-fast request handling.</a:t>
            </a:r>
          </a:p>
          <a:p>
            <a:r>
              <a:rPr lang="en-IN" b="1" dirty="0" err="1"/>
              <a:t>Pydantic</a:t>
            </a:r>
            <a:r>
              <a:rPr lang="en-IN" b="1" dirty="0"/>
              <a:t> 2.12.5</a:t>
            </a:r>
            <a:r>
              <a:rPr lang="en-IN" dirty="0"/>
              <a:t> ensures data validation and type safety throughout the application.</a:t>
            </a:r>
          </a:p>
          <a:p>
            <a:r>
              <a:rPr lang="en-IN" b="1" dirty="0" err="1"/>
              <a:t>Groq</a:t>
            </a:r>
            <a:r>
              <a:rPr lang="en-IN" b="1" dirty="0"/>
              <a:t> SDK 1.0.0</a:t>
            </a:r>
            <a:r>
              <a:rPr lang="en-IN" dirty="0"/>
              <a:t> integrates with </a:t>
            </a:r>
            <a:r>
              <a:rPr lang="en-IN" dirty="0" err="1"/>
              <a:t>Groq's</a:t>
            </a:r>
            <a:r>
              <a:rPr lang="en-IN" dirty="0"/>
              <a:t> AI platform for model inference.</a:t>
            </a:r>
          </a:p>
          <a:p>
            <a:r>
              <a:rPr lang="en-IN" b="1" dirty="0" err="1"/>
              <a:t>yt-dlp</a:t>
            </a:r>
            <a:r>
              <a:rPr lang="en-IN" b="1" dirty="0"/>
              <a:t> 2025.12.8</a:t>
            </a:r>
            <a:r>
              <a:rPr lang="en-IN" dirty="0"/>
              <a:t> handles YouTube and media platform audio extraction.</a:t>
            </a:r>
          </a:p>
          <a:p>
            <a:r>
              <a:rPr lang="en-IN" b="1" dirty="0"/>
              <a:t>static-</a:t>
            </a:r>
            <a:r>
              <a:rPr lang="en-IN" b="1" dirty="0" err="1"/>
              <a:t>ffmpeg</a:t>
            </a:r>
            <a:r>
              <a:rPr lang="en-IN" b="1" dirty="0"/>
              <a:t> 2.13</a:t>
            </a:r>
            <a:r>
              <a:rPr lang="en-IN" dirty="0"/>
              <a:t> processes audio files including format conversion and segmentation.</a:t>
            </a:r>
          </a:p>
          <a:p>
            <a:r>
              <a:rPr lang="en-IN" b="1" dirty="0" err="1"/>
              <a:t>youtube</a:t>
            </a:r>
            <a:r>
              <a:rPr lang="en-IN" b="1" dirty="0"/>
              <a:t>-transcript-</a:t>
            </a:r>
            <a:r>
              <a:rPr lang="en-IN" b="1" dirty="0" err="1"/>
              <a:t>api</a:t>
            </a:r>
            <a:r>
              <a:rPr lang="en-IN" b="1" dirty="0"/>
              <a:t> 0.6.2</a:t>
            </a:r>
            <a:r>
              <a:rPr lang="en-IN" dirty="0"/>
              <a:t> extracts YouTube captions for instant transcription.</a:t>
            </a:r>
          </a:p>
          <a:p>
            <a:r>
              <a:rPr lang="en-IN" b="1" dirty="0" err="1"/>
              <a:t>jsPDF</a:t>
            </a:r>
            <a:r>
              <a:rPr lang="en-IN" dirty="0"/>
              <a:t> enables client-side PDF generation for exporting study materials.</a:t>
            </a:r>
          </a:p>
          <a:p>
            <a:r>
              <a:rPr lang="en-IN" b="1" dirty="0"/>
              <a:t>4. AI Models &amp; Integration</a:t>
            </a:r>
          </a:p>
          <a:p>
            <a:r>
              <a:rPr lang="en-IN" b="1" dirty="0"/>
              <a:t>Whisper Large V3</a:t>
            </a:r>
            <a:r>
              <a:rPr lang="en-IN" dirty="0"/>
              <a:t> (via </a:t>
            </a:r>
            <a:r>
              <a:rPr lang="en-IN" dirty="0" err="1"/>
              <a:t>Groq</a:t>
            </a:r>
            <a:r>
              <a:rPr lang="en-IN" dirty="0"/>
              <a:t>) performs speech-to-text transcription 20-30x faster than real-time.</a:t>
            </a:r>
          </a:p>
          <a:p>
            <a:r>
              <a:rPr lang="en-IN" dirty="0"/>
              <a:t>Achieves 95%+ accuracy for clear audio with multi-language support.</a:t>
            </a:r>
          </a:p>
          <a:p>
            <a:r>
              <a:rPr lang="en-IN" b="1" dirty="0"/>
              <a:t>Llama 3.3 70B Versatile</a:t>
            </a:r>
            <a:r>
              <a:rPr lang="en-IN" dirty="0"/>
              <a:t> (via </a:t>
            </a:r>
            <a:r>
              <a:rPr lang="en-IN" dirty="0" err="1"/>
              <a:t>Groq</a:t>
            </a:r>
            <a:r>
              <a:rPr lang="en-IN" dirty="0"/>
              <a:t>) generates summaries, quizzes, and flashcards.</a:t>
            </a:r>
          </a:p>
          <a:p>
            <a:r>
              <a:rPr lang="en-IN" dirty="0"/>
              <a:t>Supports 128K token context window for processing very long transcripts.</a:t>
            </a:r>
          </a:p>
        </p:txBody>
      </p:sp>
    </p:spTree>
    <p:extLst>
      <p:ext uri="{BB962C8B-B14F-4D97-AF65-F5344CB8AC3E}">
        <p14:creationId xmlns:p14="http://schemas.microsoft.com/office/powerpoint/2010/main" val="3613526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Algorithm </a:t>
            </a:r>
            <a:endParaRPr lang="en-US" dirty="0"/>
          </a:p>
        </p:txBody>
      </p:sp>
      <p:sp>
        <p:nvSpPr>
          <p:cNvPr id="3" name="Rectangle 1">
            <a:extLst>
              <a:ext uri="{FF2B5EF4-FFF2-40B4-BE49-F238E27FC236}">
                <a16:creationId xmlns:a16="http://schemas.microsoft.com/office/drawing/2014/main" id="{36B1088C-89EA-3F94-B807-2B09819E8AD8}"/>
              </a:ext>
            </a:extLst>
          </p:cNvPr>
          <p:cNvSpPr>
            <a:spLocks noGrp="1" noChangeArrowheads="1"/>
          </p:cNvSpPr>
          <p:nvPr>
            <p:ph idx="1"/>
          </p:nvPr>
        </p:nvSpPr>
        <p:spPr bwMode="auto">
          <a:xfrm>
            <a:off x="581192" y="1342610"/>
            <a:ext cx="11126254" cy="5091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US" dirty="0"/>
              <a:t>The system implements a multi-stage transcription algorithm that begins when users provide audio input through file upload, live recording, or URL links, with the system first validating the input format and checking file size constraints before proceeding to processing. For files under </a:t>
            </a:r>
            <a:r>
              <a:rPr lang="en-US" b="1" dirty="0"/>
              <a:t>25MB</a:t>
            </a:r>
            <a:r>
              <a:rPr lang="en-US" dirty="0"/>
              <a:t>, the audio is sent directly to </a:t>
            </a:r>
            <a:r>
              <a:rPr lang="en-US" b="1" dirty="0" err="1"/>
              <a:t>Groq's</a:t>
            </a:r>
            <a:r>
              <a:rPr lang="en-US" b="1" dirty="0"/>
              <a:t> Whisper Large V3 API </a:t>
            </a:r>
            <a:r>
              <a:rPr lang="en-US" dirty="0"/>
              <a:t>for immediate transcription, while larger files trigger an intelligent chunking algorithm that uses </a:t>
            </a:r>
            <a:r>
              <a:rPr lang="en-US" b="1" dirty="0" err="1"/>
              <a:t>FFmpeg</a:t>
            </a:r>
            <a:r>
              <a:rPr lang="en-US" b="1" dirty="0"/>
              <a:t> </a:t>
            </a:r>
            <a:r>
              <a:rPr lang="en-US" dirty="0"/>
              <a:t>to </a:t>
            </a:r>
            <a:r>
              <a:rPr lang="en-US" b="1" dirty="0"/>
              <a:t>split the audio into 10-minute segments</a:t>
            </a:r>
            <a:r>
              <a:rPr lang="en-US" dirty="0"/>
              <a:t>, processes them concurrently using Python's </a:t>
            </a:r>
            <a:r>
              <a:rPr lang="en-US" dirty="0" err="1"/>
              <a:t>asyncio</a:t>
            </a:r>
            <a:r>
              <a:rPr lang="en-US" dirty="0"/>
              <a:t> for parallel execution, and seamlessly concatenates the results to produce a complete transcript without visible chunk boundaries. YouTube URL processing employs a sophisticated dual-strategy approach where the system first attempts to extract existing captions using the YouTube Transcript API for instant results in </a:t>
            </a:r>
            <a:r>
              <a:rPr lang="en-US" b="1" dirty="0"/>
              <a:t>2-3 seconds </a:t>
            </a:r>
            <a:r>
              <a:rPr lang="en-US" dirty="0"/>
              <a:t>with </a:t>
            </a:r>
            <a:r>
              <a:rPr lang="en-US" b="1" dirty="0"/>
              <a:t>95% success rate</a:t>
            </a:r>
            <a:r>
              <a:rPr lang="en-US" dirty="0"/>
              <a:t>, and if captions are unavailable, automatically falls back to downloading audio using </a:t>
            </a:r>
            <a:r>
              <a:rPr lang="en-US" dirty="0" err="1"/>
              <a:t>yt-dlp</a:t>
            </a:r>
            <a:r>
              <a:rPr lang="en-US" dirty="0"/>
              <a:t> with iOS client emulation and custom HTTP headers to bypass bot detection, though this fallback achieves only </a:t>
            </a:r>
            <a:r>
              <a:rPr lang="en-US" b="1" dirty="0"/>
              <a:t>30-40% success </a:t>
            </a:r>
            <a:r>
              <a:rPr lang="en-US" dirty="0"/>
              <a:t>due to YouTube's aggressive restrictions. The AI content generation algorithm receives the transcript and constructs specialized prompts for Llama 3.3 70B based on the requested content type, whether generating organized summaries with structured headings and bullet points, creating multiple-choice quizzes with four options per question, or producing flashcard question-answer pairs optimized for spaced repetition learning. For transcripts exceeding </a:t>
            </a:r>
            <a:r>
              <a:rPr lang="en-US" b="1" dirty="0"/>
              <a:t>100,000 characters</a:t>
            </a:r>
            <a:r>
              <a:rPr lang="en-US" dirty="0"/>
              <a:t>, the algorithm automatically splits the content into manageable sections, processes each independently, and intelligently.</a:t>
            </a:r>
          </a:p>
          <a:p>
            <a:pPr marL="0" indent="0" algn="just">
              <a:buNone/>
            </a:pPr>
            <a:br>
              <a:rPr lang="en-US" dirty="0"/>
            </a:br>
            <a:endParaRPr lang="en-US" dirty="0"/>
          </a:p>
        </p:txBody>
      </p:sp>
    </p:spTree>
    <p:extLst>
      <p:ext uri="{BB962C8B-B14F-4D97-AF65-F5344CB8AC3E}">
        <p14:creationId xmlns:p14="http://schemas.microsoft.com/office/powerpoint/2010/main" val="4154508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61D53-2621-7585-9625-9341537CA6C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E7CD935-0570-2419-1CC9-073F4E1F3A97}"/>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Deployment</a:t>
            </a:r>
            <a:endParaRPr lang="en-US" dirty="0"/>
          </a:p>
        </p:txBody>
      </p:sp>
      <p:sp>
        <p:nvSpPr>
          <p:cNvPr id="3" name="Rectangle 1">
            <a:extLst>
              <a:ext uri="{FF2B5EF4-FFF2-40B4-BE49-F238E27FC236}">
                <a16:creationId xmlns:a16="http://schemas.microsoft.com/office/drawing/2014/main" id="{17E4F55D-8C14-B029-2D10-2A50BDF268C8}"/>
              </a:ext>
            </a:extLst>
          </p:cNvPr>
          <p:cNvSpPr>
            <a:spLocks noGrp="1" noChangeArrowheads="1"/>
          </p:cNvSpPr>
          <p:nvPr>
            <p:ph idx="1"/>
          </p:nvPr>
        </p:nvSpPr>
        <p:spPr bwMode="auto">
          <a:xfrm>
            <a:off x="581191" y="2508314"/>
            <a:ext cx="11029615" cy="2760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US" dirty="0"/>
              <a:t>The backend is deployed on Render.com as a Platform-as-a-Service solution running Python 3.13.4 with automatic virtual environment creation, configured with the build command "pip install -r requirements.txt" and start command "</a:t>
            </a:r>
            <a:r>
              <a:rPr lang="en-US" dirty="0" err="1"/>
              <a:t>uvicorn</a:t>
            </a:r>
            <a:r>
              <a:rPr lang="en-US" dirty="0"/>
              <a:t> </a:t>
            </a:r>
            <a:r>
              <a:rPr lang="en-US" dirty="0" err="1"/>
              <a:t>main:app</a:t>
            </a:r>
            <a:r>
              <a:rPr lang="en-US" dirty="0"/>
              <a:t> --host 0.0.0.0 --port $PORT" to bind the </a:t>
            </a:r>
            <a:r>
              <a:rPr lang="en-US" dirty="0" err="1"/>
              <a:t>FastAPI</a:t>
            </a:r>
            <a:r>
              <a:rPr lang="en-US" dirty="0"/>
              <a:t> application to the platform-assigned port. </a:t>
            </a:r>
          </a:p>
          <a:p>
            <a:pPr marL="0" indent="0" algn="just">
              <a:buNone/>
            </a:pPr>
            <a:endParaRPr lang="en-US" dirty="0"/>
          </a:p>
          <a:p>
            <a:pPr marL="0" indent="0" algn="just">
              <a:buNone/>
            </a:pPr>
            <a:r>
              <a:rPr lang="en-US" dirty="0"/>
              <a:t>The frontend is deployed on </a:t>
            </a:r>
            <a:r>
              <a:rPr lang="en-US" dirty="0" err="1"/>
              <a:t>Vercel's</a:t>
            </a:r>
            <a:r>
              <a:rPr lang="en-US" dirty="0"/>
              <a:t> global edge network using the Vite build system, with the deployment configured to run "</a:t>
            </a:r>
            <a:r>
              <a:rPr lang="en-US" dirty="0" err="1"/>
              <a:t>npm</a:t>
            </a:r>
            <a:r>
              <a:rPr lang="en-US" dirty="0"/>
              <a:t> install" followed by "</a:t>
            </a:r>
            <a:r>
              <a:rPr lang="en-US" dirty="0" err="1"/>
              <a:t>npm</a:t>
            </a:r>
            <a:r>
              <a:rPr lang="en-US" dirty="0"/>
              <a:t> run build" which produces optimized static assets with code splitting, tree shaking, and minification for maximum performance.</a:t>
            </a:r>
            <a:endParaRPr lang="en-IN" b="1" dirty="0"/>
          </a:p>
          <a:p>
            <a:pPr marL="0" indent="0">
              <a:buNone/>
            </a:pPr>
            <a:endParaRPr lang="en-IN" b="1" dirty="0"/>
          </a:p>
        </p:txBody>
      </p:sp>
    </p:spTree>
    <p:extLst>
      <p:ext uri="{BB962C8B-B14F-4D97-AF65-F5344CB8AC3E}">
        <p14:creationId xmlns:p14="http://schemas.microsoft.com/office/powerpoint/2010/main" val="14917077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1225787"/>
            <a:ext cx="11029616" cy="530296"/>
          </a:xfrm>
        </p:spPr>
        <p:txBody>
          <a:bodyPr>
            <a:normAutofit fontScale="90000"/>
          </a:bodyPr>
          <a:lstStyle/>
          <a:p>
            <a:r>
              <a:rPr lang="en-US" sz="4400" b="1" dirty="0">
                <a:solidFill>
                  <a:schemeClr val="accent1"/>
                </a:solidFill>
                <a:latin typeface="Arial"/>
                <a:ea typeface="+mj-lt"/>
                <a:cs typeface="Arial"/>
              </a:rPr>
              <a:t>Result</a:t>
            </a:r>
            <a:br>
              <a:rPr lang="en-US" sz="4400" b="1" dirty="0">
                <a:solidFill>
                  <a:schemeClr val="accent1"/>
                </a:solidFill>
                <a:latin typeface="Arial"/>
                <a:ea typeface="+mj-lt"/>
                <a:cs typeface="Arial"/>
              </a:rPr>
            </a:br>
            <a:r>
              <a:rPr lang="en-US" sz="4400" b="1" dirty="0">
                <a:solidFill>
                  <a:schemeClr val="accent1"/>
                </a:solidFill>
                <a:latin typeface="Arial"/>
                <a:ea typeface="+mj-lt"/>
                <a:cs typeface="Arial"/>
              </a:rPr>
              <a:t>Home Page</a:t>
            </a:r>
            <a:endParaRPr lang="en-US" dirty="0"/>
          </a:p>
        </p:txBody>
      </p:sp>
      <p:pic>
        <p:nvPicPr>
          <p:cNvPr id="4" name="Content Placeholder 3">
            <a:extLst>
              <a:ext uri="{FF2B5EF4-FFF2-40B4-BE49-F238E27FC236}">
                <a16:creationId xmlns:a16="http://schemas.microsoft.com/office/drawing/2014/main" id="{02798089-23C1-1C5D-850F-AC9C9A506CA9}"/>
              </a:ext>
            </a:extLst>
          </p:cNvPr>
          <p:cNvPicPr>
            <a:picLocks noGrp="1" noChangeAspect="1"/>
          </p:cNvPicPr>
          <p:nvPr>
            <p:ph idx="1"/>
          </p:nvPr>
        </p:nvPicPr>
        <p:blipFill>
          <a:blip r:embed="rId3"/>
          <a:stretch>
            <a:fillRect/>
          </a:stretch>
        </p:blipFill>
        <p:spPr bwMode="auto">
          <a:xfrm>
            <a:off x="525057" y="1649046"/>
            <a:ext cx="11141885" cy="4783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83293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A8228-62C0-705C-4195-AB790ED036D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675627E-1213-59F5-2FE6-9564D53093B7}"/>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Transcript page</a:t>
            </a:r>
            <a:endParaRPr lang="en-US" dirty="0"/>
          </a:p>
        </p:txBody>
      </p:sp>
      <p:pic>
        <p:nvPicPr>
          <p:cNvPr id="4" name="Content Placeholder 3">
            <a:extLst>
              <a:ext uri="{FF2B5EF4-FFF2-40B4-BE49-F238E27FC236}">
                <a16:creationId xmlns:a16="http://schemas.microsoft.com/office/drawing/2014/main" id="{2D856E31-B1CE-0A3C-8F5E-0C3F15F86528}"/>
              </a:ext>
            </a:extLst>
          </p:cNvPr>
          <p:cNvPicPr>
            <a:picLocks noGrp="1" noChangeAspect="1"/>
          </p:cNvPicPr>
          <p:nvPr>
            <p:ph idx="1"/>
          </p:nvPr>
        </p:nvPicPr>
        <p:blipFill>
          <a:blip r:embed="rId3"/>
          <a:stretch>
            <a:fillRect/>
          </a:stretch>
        </p:blipFill>
        <p:spPr bwMode="auto">
          <a:xfrm>
            <a:off x="581192" y="1117600"/>
            <a:ext cx="11029616" cy="5291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806197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60EFE-71C7-AC37-B696-F0B4D8C642B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1F1275A-697C-551F-D1A9-88FC58F9739D}"/>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AI SUMMARY &amp; NOTES page</a:t>
            </a:r>
            <a:endParaRPr lang="en-US" dirty="0"/>
          </a:p>
        </p:txBody>
      </p:sp>
      <p:pic>
        <p:nvPicPr>
          <p:cNvPr id="4" name="Content Placeholder 3">
            <a:extLst>
              <a:ext uri="{FF2B5EF4-FFF2-40B4-BE49-F238E27FC236}">
                <a16:creationId xmlns:a16="http://schemas.microsoft.com/office/drawing/2014/main" id="{FAF48559-275F-A014-9E4F-EAADF7EBEAC9}"/>
              </a:ext>
            </a:extLst>
          </p:cNvPr>
          <p:cNvPicPr>
            <a:picLocks noGrp="1" noChangeAspect="1"/>
          </p:cNvPicPr>
          <p:nvPr>
            <p:ph idx="1"/>
          </p:nvPr>
        </p:nvPicPr>
        <p:blipFill>
          <a:blip r:embed="rId3"/>
          <a:stretch>
            <a:fillRect/>
          </a:stretch>
        </p:blipFill>
        <p:spPr bwMode="auto">
          <a:xfrm>
            <a:off x="648678" y="1164492"/>
            <a:ext cx="10962130" cy="5267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62180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E590F-7506-F94F-08AB-CFC1D2CB061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0D7691D-43AE-E75B-BF0B-C89DB4A1CAE4}"/>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QUIZ PAGE</a:t>
            </a:r>
            <a:endParaRPr lang="en-US" dirty="0"/>
          </a:p>
        </p:txBody>
      </p:sp>
      <p:pic>
        <p:nvPicPr>
          <p:cNvPr id="4" name="Content Placeholder 3">
            <a:extLst>
              <a:ext uri="{FF2B5EF4-FFF2-40B4-BE49-F238E27FC236}">
                <a16:creationId xmlns:a16="http://schemas.microsoft.com/office/drawing/2014/main" id="{2B4092FB-7440-7B28-FD2F-D8514A122C53}"/>
              </a:ext>
            </a:extLst>
          </p:cNvPr>
          <p:cNvPicPr>
            <a:picLocks noGrp="1" noChangeAspect="1"/>
          </p:cNvPicPr>
          <p:nvPr>
            <p:ph idx="1"/>
          </p:nvPr>
        </p:nvPicPr>
        <p:blipFill>
          <a:blip r:embed="rId2"/>
          <a:stretch>
            <a:fillRect/>
          </a:stretch>
        </p:blipFill>
        <p:spPr bwMode="auto">
          <a:xfrm>
            <a:off x="581192" y="1125415"/>
            <a:ext cx="11029616" cy="5298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47404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75D52-BEBA-F5A7-54C6-3F765EE7127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12834ED-1527-E024-A29C-3EAB95A8CA39}"/>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FLASH CARDS PAGE</a:t>
            </a:r>
            <a:endParaRPr lang="en-US" dirty="0"/>
          </a:p>
        </p:txBody>
      </p:sp>
      <p:pic>
        <p:nvPicPr>
          <p:cNvPr id="4" name="Content Placeholder 3">
            <a:extLst>
              <a:ext uri="{FF2B5EF4-FFF2-40B4-BE49-F238E27FC236}">
                <a16:creationId xmlns:a16="http://schemas.microsoft.com/office/drawing/2014/main" id="{8F6C844F-9F9D-6BE3-6529-DC13F3630F94}"/>
              </a:ext>
            </a:extLst>
          </p:cNvPr>
          <p:cNvPicPr>
            <a:picLocks noGrp="1" noChangeAspect="1"/>
          </p:cNvPicPr>
          <p:nvPr>
            <p:ph idx="1"/>
          </p:nvPr>
        </p:nvPicPr>
        <p:blipFill>
          <a:blip r:embed="rId3"/>
          <a:stretch>
            <a:fillRect/>
          </a:stretch>
        </p:blipFill>
        <p:spPr bwMode="auto">
          <a:xfrm>
            <a:off x="581193" y="1141047"/>
            <a:ext cx="11029616" cy="5275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90573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2800F-863E-550B-B860-E28AA3B616A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5158FDC-28B1-4AE4-B8FE-940840CF99E5}"/>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PDF DOWNLOADING PAGE</a:t>
            </a:r>
            <a:endParaRPr lang="en-US" dirty="0"/>
          </a:p>
        </p:txBody>
      </p:sp>
      <p:pic>
        <p:nvPicPr>
          <p:cNvPr id="4" name="Content Placeholder 3">
            <a:extLst>
              <a:ext uri="{FF2B5EF4-FFF2-40B4-BE49-F238E27FC236}">
                <a16:creationId xmlns:a16="http://schemas.microsoft.com/office/drawing/2014/main" id="{73AEA2ED-8F7E-0017-5057-9F919B1B3C58}"/>
              </a:ext>
            </a:extLst>
          </p:cNvPr>
          <p:cNvPicPr>
            <a:picLocks noGrp="1" noChangeAspect="1"/>
          </p:cNvPicPr>
          <p:nvPr>
            <p:ph idx="1"/>
          </p:nvPr>
        </p:nvPicPr>
        <p:blipFill>
          <a:blip r:embed="rId3"/>
          <a:stretch>
            <a:fillRect/>
          </a:stretch>
        </p:blipFill>
        <p:spPr bwMode="auto">
          <a:xfrm>
            <a:off x="581192" y="1232452"/>
            <a:ext cx="11029616" cy="5199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288165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PDF OVERVIEW </a:t>
            </a:r>
            <a:endParaRPr lang="en-US" dirty="0"/>
          </a:p>
        </p:txBody>
      </p:sp>
      <p:pic>
        <p:nvPicPr>
          <p:cNvPr id="4" name="Content Placeholder 3">
            <a:extLst>
              <a:ext uri="{FF2B5EF4-FFF2-40B4-BE49-F238E27FC236}">
                <a16:creationId xmlns:a16="http://schemas.microsoft.com/office/drawing/2014/main" id="{E699993F-28A7-70DC-6A03-860717CD84B9}"/>
              </a:ext>
            </a:extLst>
          </p:cNvPr>
          <p:cNvPicPr>
            <a:picLocks noGrp="1" noChangeAspect="1"/>
          </p:cNvPicPr>
          <p:nvPr>
            <p:ph idx="1"/>
          </p:nvPr>
        </p:nvPicPr>
        <p:blipFill>
          <a:blip r:embed="rId3"/>
          <a:stretch>
            <a:fillRect/>
          </a:stretch>
        </p:blipFill>
        <p:spPr>
          <a:xfrm>
            <a:off x="581192" y="1133231"/>
            <a:ext cx="11029616" cy="5220677"/>
          </a:xfrm>
          <a:prstGeom prst="rect">
            <a:avLst/>
          </a:prstGeom>
        </p:spPr>
      </p:pic>
    </p:spTree>
    <p:extLst>
      <p:ext uri="{BB962C8B-B14F-4D97-AF65-F5344CB8AC3E}">
        <p14:creationId xmlns:p14="http://schemas.microsoft.com/office/powerpoint/2010/main" val="3183315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CB6B5-6B28-C9A1-4D2B-C069C1F5E7D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0EDF037-8727-62F9-35DB-E65CA11238BE}"/>
              </a:ext>
            </a:extLst>
          </p:cNvPr>
          <p:cNvSpPr>
            <a:spLocks noGrp="1"/>
          </p:cNvSpPr>
          <p:nvPr>
            <p:ph type="title"/>
          </p:nvPr>
        </p:nvSpPr>
        <p:spPr>
          <a:xfrm>
            <a:off x="581192" y="617502"/>
            <a:ext cx="11029616" cy="530296"/>
          </a:xfrm>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C465CE33-6066-705A-5054-7814D2EA1C03}"/>
              </a:ext>
            </a:extLst>
          </p:cNvPr>
          <p:cNvSpPr>
            <a:spLocks noGrp="1"/>
          </p:cNvSpPr>
          <p:nvPr>
            <p:ph idx="1"/>
          </p:nvPr>
        </p:nvSpPr>
        <p:spPr>
          <a:xfrm>
            <a:off x="581193" y="1147798"/>
            <a:ext cx="11029615" cy="5421521"/>
          </a:xfrm>
        </p:spPr>
        <p:txBody>
          <a:bodyPr>
            <a:noAutofit/>
          </a:bodyPr>
          <a:lstStyle/>
          <a:p>
            <a:pPr marL="305435" indent="-305435" algn="just"/>
            <a:r>
              <a:rPr lang="en-US" sz="1400" dirty="0">
                <a:latin typeface="Calibri" panose="020F0502020204030204" pitchFamily="34" charset="0"/>
                <a:ea typeface="Calibri" panose="020F0502020204030204" pitchFamily="34" charset="0"/>
                <a:cs typeface="Calibri" panose="020F0502020204030204" pitchFamily="34" charset="0"/>
              </a:rPr>
              <a:t>The Lecture Voice-to-Notes Generator successfully addresses the critical challenges faced by students and professionals in managing educational audio content by providing an intelligent, automated solution that transforms lengthy lectures into comprehensive, structured study materials within minutes. By leveraging cutting-edge artificial intelligence models including </a:t>
            </a:r>
            <a:r>
              <a:rPr lang="en-US" sz="1400" dirty="0" err="1">
                <a:latin typeface="Calibri" panose="020F0502020204030204" pitchFamily="34" charset="0"/>
                <a:ea typeface="Calibri" panose="020F0502020204030204" pitchFamily="34" charset="0"/>
                <a:cs typeface="Calibri" panose="020F0502020204030204" pitchFamily="34" charset="0"/>
              </a:rPr>
              <a:t>Groq's</a:t>
            </a:r>
            <a:r>
              <a:rPr lang="en-US" sz="1400" dirty="0">
                <a:latin typeface="Calibri" panose="020F0502020204030204" pitchFamily="34" charset="0"/>
                <a:ea typeface="Calibri" panose="020F0502020204030204" pitchFamily="34" charset="0"/>
                <a:cs typeface="Calibri" panose="020F0502020204030204" pitchFamily="34" charset="0"/>
              </a:rPr>
              <a:t> Whisper Large V3 for ultra-fast speech-to-text transcription and Llama 3.3 70B for intelligent content generation, the system eliminates the time-consuming manual processes of note-taking, summarization, and study material creation that traditionally consume hours of student effort. The implementation of a sophisticated dual-strategy approach for YouTube content processing, combining instant caption extraction with fallback audio download capabilities, demonstrates the system's adaptability and resilience in handling diverse content sources while maximizing success rates despite platform restrictions.</a:t>
            </a:r>
          </a:p>
          <a:p>
            <a:r>
              <a:rPr lang="en-IN" sz="1400" b="1" dirty="0">
                <a:latin typeface="Calibri" panose="020F0502020204030204" pitchFamily="34" charset="0"/>
                <a:ea typeface="Calibri" panose="020F0502020204030204" pitchFamily="34" charset="0"/>
                <a:cs typeface="Calibri" panose="020F0502020204030204" pitchFamily="34" charset="0"/>
              </a:rPr>
              <a:t>Key Achievements:</a:t>
            </a:r>
            <a:endParaRPr lang="en-IN" sz="1400" dirty="0">
              <a:latin typeface="Calibri" panose="020F0502020204030204" pitchFamily="34" charset="0"/>
              <a:ea typeface="Calibri" panose="020F0502020204030204" pitchFamily="34" charset="0"/>
              <a:cs typeface="Calibri" panose="020F0502020204030204" pitchFamily="34" charset="0"/>
            </a:endParaRPr>
          </a:p>
          <a:p>
            <a:r>
              <a:rPr lang="en-IN" sz="1400" dirty="0">
                <a:latin typeface="Calibri" panose="020F0502020204030204" pitchFamily="34" charset="0"/>
                <a:ea typeface="Calibri" panose="020F0502020204030204" pitchFamily="34" charset="0"/>
                <a:cs typeface="Calibri" panose="020F0502020204030204" pitchFamily="34" charset="0"/>
              </a:rPr>
              <a:t>Automated transcription reducing manual effort by 95%</a:t>
            </a:r>
          </a:p>
          <a:p>
            <a:r>
              <a:rPr lang="en-IN" sz="1400" dirty="0">
                <a:latin typeface="Calibri" panose="020F0502020204030204" pitchFamily="34" charset="0"/>
                <a:ea typeface="Calibri" panose="020F0502020204030204" pitchFamily="34" charset="0"/>
                <a:cs typeface="Calibri" panose="020F0502020204030204" pitchFamily="34" charset="0"/>
              </a:rPr>
              <a:t>AI-generated study materials in under 5 minutes or depend upon size of the file.</a:t>
            </a:r>
          </a:p>
          <a:p>
            <a:r>
              <a:rPr lang="en-IN" sz="1400" dirty="0">
                <a:latin typeface="Calibri" panose="020F0502020204030204" pitchFamily="34" charset="0"/>
                <a:ea typeface="Calibri" panose="020F0502020204030204" pitchFamily="34" charset="0"/>
                <a:cs typeface="Calibri" panose="020F0502020204030204" pitchFamily="34" charset="0"/>
              </a:rPr>
              <a:t>Support for 6+ hour lectures through intelligent chunking</a:t>
            </a:r>
          </a:p>
          <a:p>
            <a:r>
              <a:rPr lang="en-IN" sz="1400" dirty="0">
                <a:latin typeface="Calibri" panose="020F0502020204030204" pitchFamily="34" charset="0"/>
                <a:ea typeface="Calibri" panose="020F0502020204030204" pitchFamily="34" charset="0"/>
                <a:cs typeface="Calibri" panose="020F0502020204030204" pitchFamily="34" charset="0"/>
              </a:rPr>
              <a:t>90% success rate for YouTube content processing</a:t>
            </a:r>
          </a:p>
          <a:p>
            <a:r>
              <a:rPr lang="en-IN" sz="1400" dirty="0">
                <a:latin typeface="Calibri" panose="020F0502020204030204" pitchFamily="34" charset="0"/>
                <a:ea typeface="Calibri" panose="020F0502020204030204" pitchFamily="34" charset="0"/>
                <a:cs typeface="Calibri" panose="020F0502020204030204" pitchFamily="34" charset="0"/>
              </a:rPr>
              <a:t>Global accessibility through cloud deployment</a:t>
            </a:r>
          </a:p>
          <a:p>
            <a:r>
              <a:rPr lang="en-IN" sz="1400" dirty="0">
                <a:latin typeface="Calibri" panose="020F0502020204030204" pitchFamily="34" charset="0"/>
                <a:ea typeface="Calibri" panose="020F0502020204030204" pitchFamily="34" charset="0"/>
                <a:cs typeface="Calibri" panose="020F0502020204030204" pitchFamily="34" charset="0"/>
              </a:rPr>
              <a:t>Zero installation required for end users</a:t>
            </a:r>
          </a:p>
          <a:p>
            <a:r>
              <a:rPr lang="en-IN" sz="1400" dirty="0">
                <a:latin typeface="Calibri" panose="020F0502020204030204" pitchFamily="34" charset="0"/>
                <a:ea typeface="Calibri" panose="020F0502020204030204" pitchFamily="34" charset="0"/>
                <a:cs typeface="Calibri" panose="020F0502020204030204" pitchFamily="34" charset="0"/>
              </a:rPr>
              <a:t>Complete study suite: transcripts, notes, quizzes, flashcards</a:t>
            </a:r>
          </a:p>
          <a:p>
            <a:r>
              <a:rPr lang="en-IN" sz="1400" dirty="0">
                <a:latin typeface="Calibri" panose="020F0502020204030204" pitchFamily="34" charset="0"/>
                <a:ea typeface="Calibri" panose="020F0502020204030204" pitchFamily="34" charset="0"/>
                <a:cs typeface="Calibri" panose="020F0502020204030204" pitchFamily="34" charset="0"/>
              </a:rPr>
              <a:t>Production-ready with comprehensive error handling</a:t>
            </a:r>
          </a:p>
          <a:p>
            <a:r>
              <a:rPr lang="en-IN" sz="1400" dirty="0">
                <a:latin typeface="Calibri" panose="020F0502020204030204" pitchFamily="34" charset="0"/>
                <a:ea typeface="Calibri" panose="020F0502020204030204" pitchFamily="34" charset="0"/>
                <a:cs typeface="Calibri" panose="020F0502020204030204" pitchFamily="34" charset="0"/>
              </a:rPr>
              <a:t>This conclusion effectively summarizes the project's impact, technical achievements, and future potential.</a:t>
            </a:r>
          </a:p>
          <a:p>
            <a:pPr marL="305435" indent="-305435"/>
            <a:endParaRPr lang="en-IN" sz="1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774680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7" name="Rectangle 3">
            <a:extLst>
              <a:ext uri="{FF2B5EF4-FFF2-40B4-BE49-F238E27FC236}">
                <a16:creationId xmlns:a16="http://schemas.microsoft.com/office/drawing/2014/main" id="{BBCE0E30-F38C-D82A-6AE5-ECF63EAB5E53}"/>
              </a:ext>
            </a:extLst>
          </p:cNvPr>
          <p:cNvSpPr>
            <a:spLocks noChangeArrowheads="1"/>
          </p:cNvSpPr>
          <p:nvPr/>
        </p:nvSpPr>
        <p:spPr bwMode="auto">
          <a:xfrm>
            <a:off x="535670" y="1276130"/>
            <a:ext cx="10864507"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dirty="0"/>
              <a:t>The system can be enhanced with multi-language support to transcribe and generate study materials in languages beyond English, making it accessible to a global audience and enabling international students to learn in their native languages.</a:t>
            </a:r>
          </a:p>
          <a:p>
            <a:br>
              <a:rPr lang="en-US" dirty="0"/>
            </a:br>
            <a:r>
              <a:rPr lang="en-IN" b="1" dirty="0"/>
              <a:t>Key Future Enhancements:</a:t>
            </a:r>
            <a:endParaRPr lang="en-IN" dirty="0"/>
          </a:p>
          <a:p>
            <a:r>
              <a:rPr lang="en-IN" dirty="0"/>
              <a:t>🌍 </a:t>
            </a:r>
            <a:r>
              <a:rPr lang="en-IN" b="1" dirty="0"/>
              <a:t>Multi-language support</a:t>
            </a:r>
            <a:r>
              <a:rPr lang="en-IN" dirty="0"/>
              <a:t> for global accessibility</a:t>
            </a:r>
          </a:p>
          <a:p>
            <a:r>
              <a:rPr lang="en-IN" dirty="0"/>
              <a:t>🎓 </a:t>
            </a:r>
            <a:r>
              <a:rPr lang="en-IN" b="1" dirty="0"/>
              <a:t>LMS integration</a:t>
            </a:r>
            <a:r>
              <a:rPr lang="en-IN" dirty="0"/>
              <a:t> (Canvas, Moodle, Google Classroom)</a:t>
            </a:r>
          </a:p>
          <a:p>
            <a:r>
              <a:rPr lang="en-IN" dirty="0"/>
              <a:t>👥 </a:t>
            </a:r>
            <a:r>
              <a:rPr lang="en-IN" b="1" dirty="0"/>
              <a:t>Collaborative features</a:t>
            </a:r>
            <a:r>
              <a:rPr lang="en-IN" dirty="0"/>
              <a:t> for peer learning</a:t>
            </a:r>
          </a:p>
          <a:p>
            <a:r>
              <a:rPr lang="en-IN" dirty="0"/>
              <a:t>📊 </a:t>
            </a:r>
            <a:r>
              <a:rPr lang="en-IN" b="1" dirty="0"/>
              <a:t>Learning analytics</a:t>
            </a:r>
            <a:r>
              <a:rPr lang="en-IN" dirty="0"/>
              <a:t> with progress tracking</a:t>
            </a:r>
          </a:p>
          <a:p>
            <a:r>
              <a:rPr lang="en-IN" dirty="0"/>
              <a:t>🎥 </a:t>
            </a:r>
            <a:r>
              <a:rPr lang="en-IN" b="1" dirty="0"/>
              <a:t>Video support</a:t>
            </a:r>
            <a:r>
              <a:rPr lang="en-IN" dirty="0"/>
              <a:t> with synchronized transcripts</a:t>
            </a:r>
          </a:p>
          <a:p>
            <a:r>
              <a:rPr lang="en-IN" dirty="0"/>
              <a:t>📱 </a:t>
            </a:r>
            <a:r>
              <a:rPr lang="en-IN" b="1" dirty="0"/>
              <a:t>Mobile applications</a:t>
            </a:r>
            <a:r>
              <a:rPr lang="en-IN" dirty="0"/>
              <a:t> for iOS and Android</a:t>
            </a:r>
          </a:p>
          <a:p>
            <a:r>
              <a:rPr lang="en-IN" dirty="0"/>
              <a:t>🔍 </a:t>
            </a:r>
            <a:r>
              <a:rPr lang="en-IN" b="1" dirty="0"/>
              <a:t>AI-powered search</a:t>
            </a:r>
            <a:r>
              <a:rPr lang="en-IN" dirty="0"/>
              <a:t> within lecture content</a:t>
            </a:r>
          </a:p>
          <a:p>
            <a:r>
              <a:rPr lang="en-IN" dirty="0"/>
              <a:t>🧠 </a:t>
            </a:r>
            <a:r>
              <a:rPr lang="en-IN" b="1" dirty="0"/>
              <a:t>Concept mapping</a:t>
            </a:r>
            <a:r>
              <a:rPr lang="en-IN" dirty="0"/>
              <a:t> and knowledge graphs</a:t>
            </a:r>
          </a:p>
          <a:p>
            <a:r>
              <a:rPr lang="en-IN" dirty="0"/>
              <a:t>This future scope demonstrates the platform's potential for growth and impact.</a:t>
            </a:r>
          </a:p>
          <a:p>
            <a:pPr lvl="0" eaLnBrk="0" fontAlgn="base" hangingPunct="0">
              <a:spcBef>
                <a:spcPct val="0"/>
              </a:spcBef>
              <a:spcAft>
                <a:spcPct val="0"/>
              </a:spcAft>
            </a:pPr>
            <a:br>
              <a:rPr lang="en-US" dirty="0"/>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148826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6" name="TextBox 5">
            <a:extLst>
              <a:ext uri="{FF2B5EF4-FFF2-40B4-BE49-F238E27FC236}">
                <a16:creationId xmlns:a16="http://schemas.microsoft.com/office/drawing/2014/main" id="{6868E3FB-22A7-E0B8-4581-182B6AF5A531}"/>
              </a:ext>
            </a:extLst>
          </p:cNvPr>
          <p:cNvSpPr txBox="1"/>
          <p:nvPr/>
        </p:nvSpPr>
        <p:spPr>
          <a:xfrm>
            <a:off x="637604" y="2303418"/>
            <a:ext cx="8693965" cy="2862322"/>
          </a:xfrm>
          <a:prstGeom prst="rect">
            <a:avLst/>
          </a:prstGeom>
          <a:noFill/>
        </p:spPr>
        <p:txBody>
          <a:bodyPr wrap="square">
            <a:spAutoFit/>
          </a:bodyPr>
          <a:lstStyle/>
          <a:p>
            <a:r>
              <a:rPr lang="it-IT" dirty="0"/>
              <a:t>Groq - Ultra-Fast AI Inference Platform - </a:t>
            </a:r>
            <a:r>
              <a:rPr lang="en-IN" u="sng" dirty="0">
                <a:hlinkClick r:id="rId2"/>
              </a:rPr>
              <a:t>https://groq.com/</a:t>
            </a:r>
            <a:br>
              <a:rPr lang="en-IN" dirty="0"/>
            </a:br>
            <a:r>
              <a:rPr lang="en-IN" dirty="0" err="1"/>
              <a:t>Groq</a:t>
            </a:r>
            <a:r>
              <a:rPr lang="en-IN" dirty="0"/>
              <a:t> API Documentation - </a:t>
            </a:r>
            <a:r>
              <a:rPr lang="en-IN" u="sng" dirty="0">
                <a:hlinkClick r:id="rId3"/>
              </a:rPr>
              <a:t>https://console.groq.com/docs/</a:t>
            </a:r>
            <a:endParaRPr lang="en-IN" u="sng" dirty="0"/>
          </a:p>
          <a:p>
            <a:r>
              <a:rPr lang="en-US" dirty="0" err="1"/>
              <a:t>FastAPI</a:t>
            </a:r>
            <a:r>
              <a:rPr lang="en-US" dirty="0"/>
              <a:t> - Modern Python Web Framework  </a:t>
            </a:r>
            <a:r>
              <a:rPr lang="en-IN" u="sng" dirty="0">
                <a:hlinkClick r:id="rId4"/>
              </a:rPr>
              <a:t>https://fastapi.tiangolo.com/</a:t>
            </a:r>
            <a:endParaRPr lang="en-IN" u="sng" dirty="0"/>
          </a:p>
          <a:p>
            <a:r>
              <a:rPr lang="en-US" dirty="0"/>
              <a:t>React - JavaScript Library for Building User Interfaces  </a:t>
            </a:r>
            <a:r>
              <a:rPr lang="en-IN" u="sng" dirty="0">
                <a:hlinkClick r:id="rId5"/>
              </a:rPr>
              <a:t>https://react.dev/</a:t>
            </a:r>
            <a:endParaRPr lang="en-IN" u="sng" dirty="0"/>
          </a:p>
          <a:p>
            <a:r>
              <a:rPr lang="en-IN" dirty="0"/>
              <a:t>Render - Cloud Application Hosting  </a:t>
            </a:r>
            <a:r>
              <a:rPr lang="en-IN" u="sng" dirty="0">
                <a:hlinkClick r:id="rId6"/>
              </a:rPr>
              <a:t>https://render.com/</a:t>
            </a:r>
            <a:endParaRPr lang="en-IN" u="sng" dirty="0"/>
          </a:p>
          <a:p>
            <a:r>
              <a:rPr lang="en-IN" dirty="0" err="1"/>
              <a:t>Vercel</a:t>
            </a:r>
            <a:r>
              <a:rPr lang="en-IN" dirty="0"/>
              <a:t> - Frontend Cloud Platform  </a:t>
            </a:r>
            <a:r>
              <a:rPr lang="en-IN" u="sng" dirty="0">
                <a:hlinkClick r:id="rId7"/>
              </a:rPr>
              <a:t>https://vercel.com/</a:t>
            </a:r>
            <a:endParaRPr lang="en-IN" u="sng" dirty="0"/>
          </a:p>
          <a:p>
            <a:r>
              <a:rPr lang="en-IN" dirty="0"/>
              <a:t>Render Documentation - Python Deployment  </a:t>
            </a:r>
            <a:r>
              <a:rPr lang="en-IN" u="sng" dirty="0">
                <a:hlinkClick r:id="rId8"/>
              </a:rPr>
              <a:t>https://render.com/docs/deploy-fastapi</a:t>
            </a:r>
            <a:endParaRPr lang="en-IN" u="sng" dirty="0"/>
          </a:p>
          <a:p>
            <a:r>
              <a:rPr lang="en-IN" dirty="0"/>
              <a:t> </a:t>
            </a:r>
            <a:r>
              <a:rPr lang="en-IN" dirty="0" err="1"/>
              <a:t>Vercel</a:t>
            </a:r>
            <a:r>
              <a:rPr lang="en-IN" dirty="0"/>
              <a:t> Documentation - React Deployment  </a:t>
            </a:r>
            <a:r>
              <a:rPr lang="en-IN" dirty="0">
                <a:hlinkClick r:id="rId9"/>
              </a:rPr>
              <a:t>https://vercel.com/docs/frameworks/vite</a:t>
            </a:r>
            <a:endParaRPr lang="en-IN" u="sng" dirty="0"/>
          </a:p>
          <a:p>
            <a:endParaRPr lang="en-IN" u="sng" dirty="0"/>
          </a:p>
          <a:p>
            <a:endParaRPr lang="en-IN" dirty="0"/>
          </a:p>
        </p:txBody>
      </p:sp>
    </p:spTree>
    <p:extLst>
      <p:ext uri="{BB962C8B-B14F-4D97-AF65-F5344CB8AC3E}">
        <p14:creationId xmlns:p14="http://schemas.microsoft.com/office/powerpoint/2010/main" val="7289502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C18F4-90FF-869B-D16A-31F40314E23F}"/>
              </a:ext>
            </a:extLst>
          </p:cNvPr>
          <p:cNvSpPr>
            <a:spLocks noGrp="1"/>
          </p:cNvSpPr>
          <p:nvPr>
            <p:ph type="title"/>
          </p:nvPr>
        </p:nvSpPr>
        <p:spPr>
          <a:xfrm>
            <a:off x="581192" y="694341"/>
            <a:ext cx="11029616" cy="530296"/>
          </a:xfrm>
        </p:spPr>
        <p:txBody>
          <a:bodyPr/>
          <a:lstStyle/>
          <a:p>
            <a:r>
              <a:rPr lang="en-US" dirty="0" err="1"/>
              <a:t>Github</a:t>
            </a:r>
            <a:r>
              <a:rPr lang="en-US" dirty="0"/>
              <a:t> link</a:t>
            </a:r>
            <a:endParaRPr lang="en-IN" dirty="0"/>
          </a:p>
        </p:txBody>
      </p:sp>
      <p:sp>
        <p:nvSpPr>
          <p:cNvPr id="3" name="Content Placeholder 2">
            <a:extLst>
              <a:ext uri="{FF2B5EF4-FFF2-40B4-BE49-F238E27FC236}">
                <a16:creationId xmlns:a16="http://schemas.microsoft.com/office/drawing/2014/main" id="{D728B4D2-2154-F20B-F64F-A6097D21B39F}"/>
              </a:ext>
            </a:extLst>
          </p:cNvPr>
          <p:cNvSpPr>
            <a:spLocks noGrp="1"/>
          </p:cNvSpPr>
          <p:nvPr>
            <p:ph idx="1"/>
          </p:nvPr>
        </p:nvSpPr>
        <p:spPr/>
        <p:txBody>
          <a:bodyPr/>
          <a:lstStyle/>
          <a:p>
            <a:r>
              <a:rPr lang="en-IN" dirty="0"/>
              <a:t>GitHub Link : </a:t>
            </a:r>
            <a:r>
              <a:rPr lang="en-IN" dirty="0">
                <a:hlinkClick r:id="rId2"/>
              </a:rPr>
              <a:t>https://github.com/jaichanaditya03</a:t>
            </a:r>
            <a:endParaRPr lang="en-IN" dirty="0"/>
          </a:p>
          <a:p>
            <a:r>
              <a:rPr lang="en-IN" dirty="0"/>
              <a:t>Deployment Link: </a:t>
            </a:r>
            <a:r>
              <a:rPr lang="en-IN" dirty="0">
                <a:hlinkClick r:id="rId3"/>
              </a:rPr>
              <a:t>https://lecture-voice-to-notes-generator-git-main-jaichans-projects.vercel.app/</a:t>
            </a:r>
            <a:endParaRPr lang="en-IN" dirty="0"/>
          </a:p>
        </p:txBody>
      </p:sp>
    </p:spTree>
    <p:extLst>
      <p:ext uri="{BB962C8B-B14F-4D97-AF65-F5344CB8AC3E}">
        <p14:creationId xmlns:p14="http://schemas.microsoft.com/office/powerpoint/2010/main" val="19959093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CE35D4E-00D4-FE8E-2F40-C2D8FE949785}"/>
              </a:ext>
            </a:extLst>
          </p:cNvPr>
          <p:cNvPicPr>
            <a:picLocks noChangeAspect="1"/>
          </p:cNvPicPr>
          <p:nvPr/>
        </p:nvPicPr>
        <p:blipFill>
          <a:blip r:embed="rId2"/>
          <a:stretch>
            <a:fillRect/>
          </a:stretch>
        </p:blipFill>
        <p:spPr>
          <a:xfrm>
            <a:off x="570524" y="1523999"/>
            <a:ext cx="11035322" cy="4048369"/>
          </a:xfrm>
          <a:prstGeom prst="rect">
            <a:avLst/>
          </a:prstGeom>
        </p:spPr>
      </p:pic>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Future forward</Template>
  <TotalTime>1166</TotalTime>
  <Words>1773</Words>
  <Application>Microsoft Office PowerPoint</Application>
  <PresentationFormat>Widescreen</PresentationFormat>
  <Paragraphs>112</Paragraphs>
  <Slides>20</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Calibri Light</vt:lpstr>
      <vt:lpstr>Franklin Gothic Book</vt:lpstr>
      <vt:lpstr>Franklin Gothic Demi</vt:lpstr>
      <vt:lpstr>Wingdings 2</vt:lpstr>
      <vt:lpstr>DividendVTI</vt:lpstr>
      <vt:lpstr>Lecture Voice-to-Notes Generator</vt:lpstr>
      <vt:lpstr>OUTLINE</vt:lpstr>
      <vt:lpstr>Problem Statement</vt:lpstr>
      <vt:lpstr>Proposed Solution</vt:lpstr>
      <vt:lpstr>System  Approach</vt:lpstr>
      <vt:lpstr>PowerPoint Presentation</vt:lpstr>
      <vt:lpstr>Algorithm </vt:lpstr>
      <vt:lpstr>Deployment</vt:lpstr>
      <vt:lpstr>Result Home Page</vt:lpstr>
      <vt:lpstr>Transcript page</vt:lpstr>
      <vt:lpstr>AI SUMMARY &amp; NOTES page</vt:lpstr>
      <vt:lpstr>QUIZ PAGE</vt:lpstr>
      <vt:lpstr>FLASH CARDS PAGE</vt:lpstr>
      <vt:lpstr>PDF DOWNLOADING PAGE</vt:lpstr>
      <vt:lpstr>PDF OVERVIEW </vt:lpstr>
      <vt:lpstr>Conclusion</vt:lpstr>
      <vt:lpstr>PowerPoint Presentation</vt:lpstr>
      <vt:lpstr>References</vt:lpstr>
      <vt:lpstr>Github link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jaichan aditya</cp:lastModifiedBy>
  <cp:revision>43</cp:revision>
  <dcterms:created xsi:type="dcterms:W3CDTF">2021-05-26T16:50:10Z</dcterms:created>
  <dcterms:modified xsi:type="dcterms:W3CDTF">2026-01-27T12:56:20Z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